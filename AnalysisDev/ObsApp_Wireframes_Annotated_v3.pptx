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3C5D09-5F38-485F-B8E3-36D37E17C6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F1996E-8028-4DD1-818D-EF6BA58098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66CAC66-4116-4FC3-9D64-696F84C83D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643EA29-A80F-4C2A-88D7-B8956F303D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E3E47BB-1EC8-4DBC-AAC4-277E43D065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6010378-D884-41E3-A565-150172F391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F07BEAC-5101-41F3-B2A0-B8366650003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B209B32-AF84-47D8-A22C-5EE6591972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1DF067E-5EEF-4E3C-AB6E-B3F25669A7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A65392C-D391-4F07-A6C7-A7ADBC934A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C5231FB-7B7F-465E-8A11-B174F3B379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E6D92D-9EF6-47A6-8FC8-92B22B509AC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74192D-77F3-4859-9668-AC701D6FF1C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AC8832-2DE0-422B-B6AC-49C5C61C8D1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1844FA-7720-422D-BE08-EFC0629AD3A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DCC70A-D5E5-4073-81C3-BDC0693D262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C1F7D1-3890-4D9C-9E6B-9F53F9ACD8B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31E4A9-178C-48DA-B972-5F58025CE51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581A77-D569-47A3-8E2A-62F964DAA10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C5835E-97DC-4C73-B800-4541E682CA8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3B543F-D78A-4576-AD79-4546331F628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C7D3B7-E5EC-426F-AB8B-44D8738D4E0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320040" y="182880"/>
            <a:ext cx="11521080" cy="5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232323"/>
                </a:solidFill>
                <a:latin typeface="Calibri"/>
              </a:rPr>
              <a:t>ObsApp – annotated wireframe pack (Optie B)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347400" y="694800"/>
            <a:ext cx="10972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V3 deck met route-mapping, componentannotaties, screen states en overal de naam “ObsApp”.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9" name="Connector 3"/>
          <p:cNvCxnSpPr/>
          <p:nvPr/>
        </p:nvCxnSpPr>
        <p:spPr>
          <a:xfrm>
            <a:off x="320040" y="932400"/>
            <a:ext cx="11521800" cy="360"/>
          </a:xfrm>
          <a:prstGeom prst="straightConnector1">
            <a:avLst/>
          </a:prstGeom>
          <a:ln w="15240">
            <a:solidFill>
              <a:srgbClr val="d5d5d5"/>
            </a:solidFill>
            <a:round/>
          </a:ln>
        </p:spPr>
      </p:cxnSp>
      <p:sp>
        <p:nvSpPr>
          <p:cNvPr id="70" name="Rounded Rectangle 4"/>
          <p:cNvSpPr/>
          <p:nvPr/>
        </p:nvSpPr>
        <p:spPr>
          <a:xfrm>
            <a:off x="685800" y="1280160"/>
            <a:ext cx="4388760" cy="4571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914400" y="1508760"/>
            <a:ext cx="3840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32323"/>
                </a:solidFill>
                <a:latin typeface="Calibri"/>
              </a:rPr>
              <a:t>Wat deze versie toevoegt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960120" y="1828800"/>
            <a:ext cx="3748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64646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64646"/>
                </a:solidFill>
                <a:latin typeface="Calibri"/>
              </a:rPr>
              <a:t>genummerde annotaties per scherm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960120" y="2212920"/>
            <a:ext cx="3748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64646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64646"/>
                </a:solidFill>
                <a:latin typeface="Calibri"/>
              </a:rPr>
              <a:t>route mapping per scherm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960120" y="2597040"/>
            <a:ext cx="3748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64646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64646"/>
                </a:solidFill>
                <a:latin typeface="Calibri"/>
              </a:rPr>
              <a:t>componentnamen voor build-spec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960120" y="2980800"/>
            <a:ext cx="3748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64646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64646"/>
                </a:solidFill>
                <a:latin typeface="Calibri"/>
              </a:rPr>
              <a:t>states én technische notities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ectangle 11"/>
          <p:cNvSpPr/>
          <p:nvPr/>
        </p:nvSpPr>
        <p:spPr>
          <a:xfrm>
            <a:off x="5486400" y="1371600"/>
            <a:ext cx="123408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12"/>
          <p:cNvSpPr/>
          <p:nvPr/>
        </p:nvSpPr>
        <p:spPr>
          <a:xfrm>
            <a:off x="5486400" y="1371600"/>
            <a:ext cx="1234080" cy="32868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ounded Rectangle 13"/>
          <p:cNvSpPr/>
          <p:nvPr/>
        </p:nvSpPr>
        <p:spPr>
          <a:xfrm>
            <a:off x="5596200" y="146304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ounded Rectangle 14"/>
          <p:cNvSpPr/>
          <p:nvPr/>
        </p:nvSpPr>
        <p:spPr>
          <a:xfrm>
            <a:off x="5760720" y="146304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ounded Rectangle 15"/>
          <p:cNvSpPr/>
          <p:nvPr/>
        </p:nvSpPr>
        <p:spPr>
          <a:xfrm>
            <a:off x="5925240" y="146304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16"/>
          <p:cNvSpPr/>
          <p:nvPr/>
        </p:nvSpPr>
        <p:spPr>
          <a:xfrm>
            <a:off x="6172200" y="1454040"/>
            <a:ext cx="3474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87878"/>
                </a:solidFill>
                <a:latin typeface="Calibri"/>
              </a:rPr>
              <a:t>obsapp.local / auth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17"/>
          <p:cNvSpPr/>
          <p:nvPr/>
        </p:nvSpPr>
        <p:spPr>
          <a:xfrm>
            <a:off x="5486400" y="2853000"/>
            <a:ext cx="12340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787878"/>
                </a:solidFill>
                <a:latin typeface="Calibri"/>
              </a:rPr>
              <a:t>Login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ectangle 18"/>
          <p:cNvSpPr/>
          <p:nvPr/>
        </p:nvSpPr>
        <p:spPr>
          <a:xfrm>
            <a:off x="6949440" y="1371600"/>
            <a:ext cx="123408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ectangle 19"/>
          <p:cNvSpPr/>
          <p:nvPr/>
        </p:nvSpPr>
        <p:spPr>
          <a:xfrm>
            <a:off x="6949440" y="1371600"/>
            <a:ext cx="1234080" cy="32868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ounded Rectangle 20"/>
          <p:cNvSpPr/>
          <p:nvPr/>
        </p:nvSpPr>
        <p:spPr>
          <a:xfrm>
            <a:off x="7059240" y="146304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ounded Rectangle 21"/>
          <p:cNvSpPr/>
          <p:nvPr/>
        </p:nvSpPr>
        <p:spPr>
          <a:xfrm>
            <a:off x="7223760" y="146304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ounded Rectangle 22"/>
          <p:cNvSpPr/>
          <p:nvPr/>
        </p:nvSpPr>
        <p:spPr>
          <a:xfrm>
            <a:off x="7388280" y="146304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23"/>
          <p:cNvSpPr/>
          <p:nvPr/>
        </p:nvSpPr>
        <p:spPr>
          <a:xfrm>
            <a:off x="7635240" y="1454040"/>
            <a:ext cx="3474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87878"/>
                </a:solidFill>
                <a:latin typeface="Calibri"/>
              </a:rPr>
              <a:t>obsapp.local / app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24"/>
          <p:cNvSpPr/>
          <p:nvPr/>
        </p:nvSpPr>
        <p:spPr>
          <a:xfrm>
            <a:off x="6949440" y="2853000"/>
            <a:ext cx="12340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787878"/>
                </a:solidFill>
                <a:latin typeface="Calibri"/>
              </a:rPr>
              <a:t>Dashboard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ctangle 25"/>
          <p:cNvSpPr/>
          <p:nvPr/>
        </p:nvSpPr>
        <p:spPr>
          <a:xfrm>
            <a:off x="8412480" y="1371600"/>
            <a:ext cx="123408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26"/>
          <p:cNvSpPr/>
          <p:nvPr/>
        </p:nvSpPr>
        <p:spPr>
          <a:xfrm>
            <a:off x="8412480" y="1371600"/>
            <a:ext cx="1234080" cy="32868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ounded Rectangle 27"/>
          <p:cNvSpPr/>
          <p:nvPr/>
        </p:nvSpPr>
        <p:spPr>
          <a:xfrm>
            <a:off x="8522280" y="146304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ounded Rectangle 28"/>
          <p:cNvSpPr/>
          <p:nvPr/>
        </p:nvSpPr>
        <p:spPr>
          <a:xfrm>
            <a:off x="8686800" y="146304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ounded Rectangle 29"/>
          <p:cNvSpPr/>
          <p:nvPr/>
        </p:nvSpPr>
        <p:spPr>
          <a:xfrm>
            <a:off x="8851320" y="146304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30"/>
          <p:cNvSpPr/>
          <p:nvPr/>
        </p:nvSpPr>
        <p:spPr>
          <a:xfrm>
            <a:off x="9098280" y="1454040"/>
            <a:ext cx="3474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87878"/>
                </a:solidFill>
                <a:latin typeface="Calibri"/>
              </a:rPr>
              <a:t>obsapp.local / app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31"/>
          <p:cNvSpPr/>
          <p:nvPr/>
        </p:nvSpPr>
        <p:spPr>
          <a:xfrm>
            <a:off x="8412480" y="2853000"/>
            <a:ext cx="12340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787878"/>
                </a:solidFill>
                <a:latin typeface="Calibri"/>
              </a:rPr>
              <a:t>Observeer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32"/>
          <p:cNvSpPr/>
          <p:nvPr/>
        </p:nvSpPr>
        <p:spPr>
          <a:xfrm>
            <a:off x="9875520" y="1371600"/>
            <a:ext cx="123408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ectangle 33"/>
          <p:cNvSpPr/>
          <p:nvPr/>
        </p:nvSpPr>
        <p:spPr>
          <a:xfrm>
            <a:off x="9875520" y="1371600"/>
            <a:ext cx="1234080" cy="32868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ounded Rectangle 34"/>
          <p:cNvSpPr/>
          <p:nvPr/>
        </p:nvSpPr>
        <p:spPr>
          <a:xfrm>
            <a:off x="9985320" y="146304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ounded Rectangle 35"/>
          <p:cNvSpPr/>
          <p:nvPr/>
        </p:nvSpPr>
        <p:spPr>
          <a:xfrm>
            <a:off x="10149840" y="146304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ounded Rectangle 36"/>
          <p:cNvSpPr/>
          <p:nvPr/>
        </p:nvSpPr>
        <p:spPr>
          <a:xfrm>
            <a:off x="10314360" y="146304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37"/>
          <p:cNvSpPr/>
          <p:nvPr/>
        </p:nvSpPr>
        <p:spPr>
          <a:xfrm>
            <a:off x="10561320" y="1454040"/>
            <a:ext cx="3474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87878"/>
                </a:solidFill>
                <a:latin typeface="Calibri"/>
              </a:rPr>
              <a:t>obsapp.local / app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38"/>
          <p:cNvSpPr/>
          <p:nvPr/>
        </p:nvSpPr>
        <p:spPr>
          <a:xfrm>
            <a:off x="9875520" y="2853000"/>
            <a:ext cx="12340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787878"/>
                </a:solidFill>
                <a:latin typeface="Calibri"/>
              </a:rPr>
              <a:t>Dossier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ectangle 39"/>
          <p:cNvSpPr/>
          <p:nvPr/>
        </p:nvSpPr>
        <p:spPr>
          <a:xfrm>
            <a:off x="5486400" y="3520440"/>
            <a:ext cx="123408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 40"/>
          <p:cNvSpPr/>
          <p:nvPr/>
        </p:nvSpPr>
        <p:spPr>
          <a:xfrm>
            <a:off x="5486400" y="3520440"/>
            <a:ext cx="1234080" cy="32868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ounded Rectangle 41"/>
          <p:cNvSpPr/>
          <p:nvPr/>
        </p:nvSpPr>
        <p:spPr>
          <a:xfrm>
            <a:off x="5596200" y="361188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ounded Rectangle 42"/>
          <p:cNvSpPr/>
          <p:nvPr/>
        </p:nvSpPr>
        <p:spPr>
          <a:xfrm>
            <a:off x="5760720" y="361188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ounded Rectangle 43"/>
          <p:cNvSpPr/>
          <p:nvPr/>
        </p:nvSpPr>
        <p:spPr>
          <a:xfrm>
            <a:off x="5925240" y="361188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44"/>
          <p:cNvSpPr/>
          <p:nvPr/>
        </p:nvSpPr>
        <p:spPr>
          <a:xfrm>
            <a:off x="6172200" y="3602880"/>
            <a:ext cx="3474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87878"/>
                </a:solidFill>
                <a:latin typeface="Calibri"/>
              </a:rPr>
              <a:t>obsapp.local / app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45"/>
          <p:cNvSpPr/>
          <p:nvPr/>
        </p:nvSpPr>
        <p:spPr>
          <a:xfrm>
            <a:off x="5486400" y="5001840"/>
            <a:ext cx="12340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787878"/>
                </a:solidFill>
                <a:latin typeface="Calibri"/>
              </a:rPr>
              <a:t>Matrix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ctangle 46"/>
          <p:cNvSpPr/>
          <p:nvPr/>
        </p:nvSpPr>
        <p:spPr>
          <a:xfrm>
            <a:off x="6949440" y="3520440"/>
            <a:ext cx="123408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ectangle 47"/>
          <p:cNvSpPr/>
          <p:nvPr/>
        </p:nvSpPr>
        <p:spPr>
          <a:xfrm>
            <a:off x="6949440" y="3520440"/>
            <a:ext cx="1234080" cy="32868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ounded Rectangle 48"/>
          <p:cNvSpPr/>
          <p:nvPr/>
        </p:nvSpPr>
        <p:spPr>
          <a:xfrm>
            <a:off x="7059240" y="361188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ounded Rectangle 49"/>
          <p:cNvSpPr/>
          <p:nvPr/>
        </p:nvSpPr>
        <p:spPr>
          <a:xfrm>
            <a:off x="7223760" y="361188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ounded Rectangle 50"/>
          <p:cNvSpPr/>
          <p:nvPr/>
        </p:nvSpPr>
        <p:spPr>
          <a:xfrm>
            <a:off x="7388280" y="361188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51"/>
          <p:cNvSpPr/>
          <p:nvPr/>
        </p:nvSpPr>
        <p:spPr>
          <a:xfrm>
            <a:off x="7635240" y="3602880"/>
            <a:ext cx="3474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87878"/>
                </a:solidFill>
                <a:latin typeface="Calibri"/>
              </a:rPr>
              <a:t>obsapp.local / app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52"/>
          <p:cNvSpPr/>
          <p:nvPr/>
        </p:nvSpPr>
        <p:spPr>
          <a:xfrm>
            <a:off x="6949440" y="5001840"/>
            <a:ext cx="12340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787878"/>
                </a:solidFill>
                <a:latin typeface="Calibri"/>
              </a:rPr>
              <a:t>Flags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ectangle 53"/>
          <p:cNvSpPr/>
          <p:nvPr/>
        </p:nvSpPr>
        <p:spPr>
          <a:xfrm>
            <a:off x="8412480" y="3520440"/>
            <a:ext cx="123408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ectangle 54"/>
          <p:cNvSpPr/>
          <p:nvPr/>
        </p:nvSpPr>
        <p:spPr>
          <a:xfrm>
            <a:off x="8412480" y="3520440"/>
            <a:ext cx="1234080" cy="32868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ounded Rectangle 55"/>
          <p:cNvSpPr/>
          <p:nvPr/>
        </p:nvSpPr>
        <p:spPr>
          <a:xfrm>
            <a:off x="8522280" y="361188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ounded Rectangle 56"/>
          <p:cNvSpPr/>
          <p:nvPr/>
        </p:nvSpPr>
        <p:spPr>
          <a:xfrm>
            <a:off x="8686800" y="361188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ounded Rectangle 57"/>
          <p:cNvSpPr/>
          <p:nvPr/>
        </p:nvSpPr>
        <p:spPr>
          <a:xfrm>
            <a:off x="8851320" y="361188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58"/>
          <p:cNvSpPr/>
          <p:nvPr/>
        </p:nvSpPr>
        <p:spPr>
          <a:xfrm>
            <a:off x="9098280" y="3602880"/>
            <a:ext cx="3474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87878"/>
                </a:solidFill>
                <a:latin typeface="Calibri"/>
              </a:rPr>
              <a:t>obsapp.local / app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59"/>
          <p:cNvSpPr/>
          <p:nvPr/>
        </p:nvSpPr>
        <p:spPr>
          <a:xfrm>
            <a:off x="8412480" y="5001840"/>
            <a:ext cx="12340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787878"/>
                </a:solidFill>
                <a:latin typeface="Calibri"/>
              </a:rPr>
              <a:t>Woordenschat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ectangle 60"/>
          <p:cNvSpPr/>
          <p:nvPr/>
        </p:nvSpPr>
        <p:spPr>
          <a:xfrm>
            <a:off x="9875520" y="3520440"/>
            <a:ext cx="123408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ectangle 61"/>
          <p:cNvSpPr/>
          <p:nvPr/>
        </p:nvSpPr>
        <p:spPr>
          <a:xfrm>
            <a:off x="9875520" y="3520440"/>
            <a:ext cx="1234080" cy="32868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ounded Rectangle 62"/>
          <p:cNvSpPr/>
          <p:nvPr/>
        </p:nvSpPr>
        <p:spPr>
          <a:xfrm>
            <a:off x="9985320" y="361188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ounded Rectangle 63"/>
          <p:cNvSpPr/>
          <p:nvPr/>
        </p:nvSpPr>
        <p:spPr>
          <a:xfrm>
            <a:off x="10149840" y="361188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ounded Rectangle 64"/>
          <p:cNvSpPr/>
          <p:nvPr/>
        </p:nvSpPr>
        <p:spPr>
          <a:xfrm>
            <a:off x="10314360" y="361188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65"/>
          <p:cNvSpPr/>
          <p:nvPr/>
        </p:nvSpPr>
        <p:spPr>
          <a:xfrm>
            <a:off x="10561320" y="3602880"/>
            <a:ext cx="3474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87878"/>
                </a:solidFill>
                <a:latin typeface="Calibri"/>
              </a:rPr>
              <a:t>obsapp.local / app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66"/>
          <p:cNvSpPr/>
          <p:nvPr/>
        </p:nvSpPr>
        <p:spPr>
          <a:xfrm>
            <a:off x="9875520" y="5001840"/>
            <a:ext cx="12340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787878"/>
                </a:solidFill>
                <a:latin typeface="Calibri"/>
              </a:rPr>
              <a:t>Export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320040" y="182880"/>
            <a:ext cx="11521080" cy="5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232323"/>
                </a:solidFill>
                <a:latin typeface="Calibri"/>
              </a:rPr>
              <a:t>1. Login – annotated wireframe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347400" y="694800"/>
            <a:ext cx="10972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ObsApp-authentificatie met duidelijke primary action, foutstate en route-mapping.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4" name="Connector 3"/>
          <p:cNvCxnSpPr/>
          <p:nvPr/>
        </p:nvCxnSpPr>
        <p:spPr>
          <a:xfrm>
            <a:off x="320040" y="932400"/>
            <a:ext cx="11521800" cy="360"/>
          </a:xfrm>
          <a:prstGeom prst="straightConnector1">
            <a:avLst/>
          </a:prstGeom>
          <a:ln w="15240">
            <a:solidFill>
              <a:srgbClr val="d5d5d5"/>
            </a:solidFill>
            <a:round/>
          </a:ln>
        </p:spPr>
      </p:cxnSp>
      <p:sp>
        <p:nvSpPr>
          <p:cNvPr id="135" name="Rectangle 4"/>
          <p:cNvSpPr/>
          <p:nvPr/>
        </p:nvSpPr>
        <p:spPr>
          <a:xfrm>
            <a:off x="868680" y="1097280"/>
            <a:ext cx="7909200" cy="544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ectangle 5"/>
          <p:cNvSpPr/>
          <p:nvPr/>
        </p:nvSpPr>
        <p:spPr>
          <a:xfrm>
            <a:off x="868680" y="1097280"/>
            <a:ext cx="7909200" cy="32868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ounded Rectangle 6"/>
          <p:cNvSpPr/>
          <p:nvPr/>
        </p:nvSpPr>
        <p:spPr>
          <a:xfrm>
            <a:off x="978480" y="118872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ounded Rectangle 7"/>
          <p:cNvSpPr/>
          <p:nvPr/>
        </p:nvSpPr>
        <p:spPr>
          <a:xfrm>
            <a:off x="1143000" y="118872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ounded Rectangle 8"/>
          <p:cNvSpPr/>
          <p:nvPr/>
        </p:nvSpPr>
        <p:spPr>
          <a:xfrm>
            <a:off x="1307520" y="118872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9"/>
          <p:cNvSpPr/>
          <p:nvPr/>
        </p:nvSpPr>
        <p:spPr>
          <a:xfrm>
            <a:off x="1554480" y="1179720"/>
            <a:ext cx="3474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87878"/>
                </a:solidFill>
                <a:latin typeface="Calibri"/>
              </a:rPr>
              <a:t>obsapp.local / auth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ounded Rectangle 10"/>
          <p:cNvSpPr/>
          <p:nvPr/>
        </p:nvSpPr>
        <p:spPr>
          <a:xfrm>
            <a:off x="2788920" y="1783080"/>
            <a:ext cx="3931560" cy="397728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11"/>
          <p:cNvSpPr/>
          <p:nvPr/>
        </p:nvSpPr>
        <p:spPr>
          <a:xfrm>
            <a:off x="4251960" y="1993320"/>
            <a:ext cx="10054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232323"/>
                </a:solidFill>
                <a:latin typeface="Calibri"/>
              </a:rPr>
              <a:t>ObsApp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12"/>
          <p:cNvSpPr/>
          <p:nvPr/>
        </p:nvSpPr>
        <p:spPr>
          <a:xfrm>
            <a:off x="3794760" y="2322720"/>
            <a:ext cx="20113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64646"/>
                </a:solidFill>
                <a:latin typeface="Calibri"/>
              </a:rPr>
              <a:t>Welkom terug – meld je aan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13"/>
          <p:cNvSpPr/>
          <p:nvPr/>
        </p:nvSpPr>
        <p:spPr>
          <a:xfrm>
            <a:off x="3246120" y="2597040"/>
            <a:ext cx="30171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464646"/>
                </a:solidFill>
                <a:latin typeface="Calibri"/>
              </a:rPr>
              <a:t>E-mailadres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ounded Rectangle 14"/>
          <p:cNvSpPr/>
          <p:nvPr/>
        </p:nvSpPr>
        <p:spPr>
          <a:xfrm>
            <a:off x="3246120" y="2743200"/>
            <a:ext cx="3017160" cy="456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naam@school.be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15"/>
          <p:cNvSpPr/>
          <p:nvPr/>
        </p:nvSpPr>
        <p:spPr>
          <a:xfrm>
            <a:off x="3246120" y="3282840"/>
            <a:ext cx="30171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464646"/>
                </a:solidFill>
                <a:latin typeface="Calibri"/>
              </a:rPr>
              <a:t>Wachtwoord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ounded Rectangle 16"/>
          <p:cNvSpPr/>
          <p:nvPr/>
        </p:nvSpPr>
        <p:spPr>
          <a:xfrm>
            <a:off x="3246120" y="3429000"/>
            <a:ext cx="3017160" cy="456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••••••••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ounded Rectangle 17"/>
          <p:cNvSpPr/>
          <p:nvPr/>
        </p:nvSpPr>
        <p:spPr>
          <a:xfrm>
            <a:off x="3246120" y="4160520"/>
            <a:ext cx="3017160" cy="4568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232323"/>
                </a:solidFill>
                <a:latin typeface="Calibri"/>
              </a:rPr>
              <a:t>Aanmelden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18"/>
          <p:cNvSpPr/>
          <p:nvPr/>
        </p:nvSpPr>
        <p:spPr>
          <a:xfrm>
            <a:off x="3310200" y="4709160"/>
            <a:ext cx="16455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Wachtwoord vergeten?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ounded Rectangle 19"/>
          <p:cNvSpPr/>
          <p:nvPr/>
        </p:nvSpPr>
        <p:spPr>
          <a:xfrm>
            <a:off x="9006840" y="1188720"/>
            <a:ext cx="2422800" cy="443448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20"/>
          <p:cNvSpPr/>
          <p:nvPr/>
        </p:nvSpPr>
        <p:spPr>
          <a:xfrm>
            <a:off x="9116640" y="1261800"/>
            <a:ext cx="220320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232323"/>
                </a:solidFill>
                <a:latin typeface="Calibri"/>
              </a:rPr>
              <a:t>ANNOTATIES / BUILD NOTES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21"/>
          <p:cNvSpPr/>
          <p:nvPr/>
        </p:nvSpPr>
        <p:spPr>
          <a:xfrm>
            <a:off x="9116640" y="1472040"/>
            <a:ext cx="2203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464646"/>
                </a:solidFill>
                <a:latin typeface="Calibri"/>
              </a:rPr>
              <a:t>Route: /auth/sign-in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22"/>
          <p:cNvSpPr/>
          <p:nvPr/>
        </p:nvSpPr>
        <p:spPr>
          <a:xfrm>
            <a:off x="9116640" y="1664280"/>
            <a:ext cx="220320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Doel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Instappunt voor leerkracht/zorgcoördinator/admin met minimale frictie.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23"/>
          <p:cNvSpPr/>
          <p:nvPr/>
        </p:nvSpPr>
        <p:spPr>
          <a:xfrm>
            <a:off x="9116640" y="2084760"/>
            <a:ext cx="2203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Componenten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24"/>
          <p:cNvSpPr/>
          <p:nvPr/>
        </p:nvSpPr>
        <p:spPr>
          <a:xfrm>
            <a:off x="9153000" y="2249280"/>
            <a:ext cx="21301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1. logo/branding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25"/>
          <p:cNvSpPr/>
          <p:nvPr/>
        </p:nvSpPr>
        <p:spPr>
          <a:xfrm>
            <a:off x="9153000" y="2414160"/>
            <a:ext cx="21301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2. email input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26"/>
          <p:cNvSpPr/>
          <p:nvPr/>
        </p:nvSpPr>
        <p:spPr>
          <a:xfrm>
            <a:off x="9153000" y="2578680"/>
            <a:ext cx="21301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3. password input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27"/>
          <p:cNvSpPr/>
          <p:nvPr/>
        </p:nvSpPr>
        <p:spPr>
          <a:xfrm>
            <a:off x="9153000" y="2743200"/>
            <a:ext cx="21301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4. primary CTA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28"/>
          <p:cNvSpPr/>
          <p:nvPr/>
        </p:nvSpPr>
        <p:spPr>
          <a:xfrm>
            <a:off x="9153000" y="2907720"/>
            <a:ext cx="21301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5. forgot password link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29"/>
          <p:cNvSpPr/>
          <p:nvPr/>
        </p:nvSpPr>
        <p:spPr>
          <a:xfrm>
            <a:off x="9116640" y="3145680"/>
            <a:ext cx="2203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States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30"/>
          <p:cNvSpPr/>
          <p:nvPr/>
        </p:nvSpPr>
        <p:spPr>
          <a:xfrm>
            <a:off x="9153000" y="3310200"/>
            <a:ext cx="21301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idle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31"/>
          <p:cNvSpPr/>
          <p:nvPr/>
        </p:nvSpPr>
        <p:spPr>
          <a:xfrm>
            <a:off x="9153000" y="3474720"/>
            <a:ext cx="21301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loading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32"/>
          <p:cNvSpPr/>
          <p:nvPr/>
        </p:nvSpPr>
        <p:spPr>
          <a:xfrm>
            <a:off x="9153000" y="3639240"/>
            <a:ext cx="21301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invalid credentials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33"/>
          <p:cNvSpPr/>
          <p:nvPr/>
        </p:nvSpPr>
        <p:spPr>
          <a:xfrm>
            <a:off x="9153000" y="3803760"/>
            <a:ext cx="21301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reset requested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34"/>
          <p:cNvSpPr/>
          <p:nvPr/>
        </p:nvSpPr>
        <p:spPr>
          <a:xfrm>
            <a:off x="9116640" y="4041720"/>
            <a:ext cx="2203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Technische notities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35"/>
          <p:cNvSpPr/>
          <p:nvPr/>
        </p:nvSpPr>
        <p:spPr>
          <a:xfrm>
            <a:off x="9153000" y="4206240"/>
            <a:ext cx="21301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fouten best inline bij het veld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36"/>
          <p:cNvSpPr/>
          <p:nvPr/>
        </p:nvSpPr>
        <p:spPr>
          <a:xfrm>
            <a:off x="9153000" y="4370760"/>
            <a:ext cx="21301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CTA krijgt spinner/state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37"/>
          <p:cNvSpPr/>
          <p:nvPr/>
        </p:nvSpPr>
        <p:spPr>
          <a:xfrm>
            <a:off x="9153000" y="4535280"/>
            <a:ext cx="21301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redirect na success naar /dashboard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ounded Rectangle 38"/>
          <p:cNvSpPr/>
          <p:nvPr/>
        </p:nvSpPr>
        <p:spPr>
          <a:xfrm>
            <a:off x="2926080" y="195696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1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0" name="Connector 39"/>
          <p:cNvCxnSpPr/>
          <p:nvPr/>
        </p:nvCxnSpPr>
        <p:spPr>
          <a:xfrm>
            <a:off x="3040200" y="2071080"/>
            <a:ext cx="6058440" cy="12384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171" name="Rounded Rectangle 40"/>
          <p:cNvSpPr/>
          <p:nvPr/>
        </p:nvSpPr>
        <p:spPr>
          <a:xfrm>
            <a:off x="3063240" y="285300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2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2" name="Connector 41"/>
          <p:cNvCxnSpPr/>
          <p:nvPr/>
        </p:nvCxnSpPr>
        <p:spPr>
          <a:xfrm flipV="1">
            <a:off x="3177360" y="2377440"/>
            <a:ext cx="5921280" cy="59004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173" name="Rounded Rectangle 42"/>
          <p:cNvSpPr/>
          <p:nvPr/>
        </p:nvSpPr>
        <p:spPr>
          <a:xfrm>
            <a:off x="3063240" y="353880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3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4" name="Connector 43"/>
          <p:cNvCxnSpPr/>
          <p:nvPr/>
        </p:nvCxnSpPr>
        <p:spPr>
          <a:xfrm flipV="1">
            <a:off x="3177360" y="2560320"/>
            <a:ext cx="5921280" cy="109296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175" name="Rounded Rectangle 44"/>
          <p:cNvSpPr/>
          <p:nvPr/>
        </p:nvSpPr>
        <p:spPr>
          <a:xfrm>
            <a:off x="3063240" y="427932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4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6" name="Connector 45"/>
          <p:cNvCxnSpPr/>
          <p:nvPr/>
        </p:nvCxnSpPr>
        <p:spPr>
          <a:xfrm flipV="1">
            <a:off x="3177360" y="2743200"/>
            <a:ext cx="5921280" cy="165060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177" name="Rounded Rectangle 46"/>
          <p:cNvSpPr/>
          <p:nvPr/>
        </p:nvSpPr>
        <p:spPr>
          <a:xfrm>
            <a:off x="3163680" y="473652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5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8" name="Connector 47"/>
          <p:cNvCxnSpPr/>
          <p:nvPr/>
        </p:nvCxnSpPr>
        <p:spPr>
          <a:xfrm flipV="1">
            <a:off x="3277800" y="2926080"/>
            <a:ext cx="5820840" cy="192492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"/>
          <p:cNvSpPr/>
          <p:nvPr/>
        </p:nvSpPr>
        <p:spPr>
          <a:xfrm>
            <a:off x="320040" y="182880"/>
            <a:ext cx="11521080" cy="5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232323"/>
                </a:solidFill>
                <a:latin typeface="Calibri"/>
              </a:rPr>
              <a:t>2. Dashboard – annotated wireframe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2"/>
          <p:cNvSpPr/>
          <p:nvPr/>
        </p:nvSpPr>
        <p:spPr>
          <a:xfrm>
            <a:off x="347400" y="694800"/>
            <a:ext cx="10972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ObsApp-startscherm met snelle toegang tot klascontext, open flags en vervolgtaken.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1" name="Connector 3"/>
          <p:cNvCxnSpPr/>
          <p:nvPr/>
        </p:nvCxnSpPr>
        <p:spPr>
          <a:xfrm>
            <a:off x="320040" y="932400"/>
            <a:ext cx="11521800" cy="360"/>
          </a:xfrm>
          <a:prstGeom prst="straightConnector1">
            <a:avLst/>
          </a:prstGeom>
          <a:ln w="15240">
            <a:solidFill>
              <a:srgbClr val="d5d5d5"/>
            </a:solidFill>
            <a:round/>
          </a:ln>
        </p:spPr>
      </p:cxnSp>
      <p:sp>
        <p:nvSpPr>
          <p:cNvPr id="182" name="Rectangle 4"/>
          <p:cNvSpPr/>
          <p:nvPr/>
        </p:nvSpPr>
        <p:spPr>
          <a:xfrm>
            <a:off x="502920" y="1051560"/>
            <a:ext cx="8412120" cy="548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ectangle 5"/>
          <p:cNvSpPr/>
          <p:nvPr/>
        </p:nvSpPr>
        <p:spPr>
          <a:xfrm>
            <a:off x="502920" y="1051560"/>
            <a:ext cx="8412120" cy="32868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ounded Rectangle 6"/>
          <p:cNvSpPr/>
          <p:nvPr/>
        </p:nvSpPr>
        <p:spPr>
          <a:xfrm>
            <a:off x="612720" y="114300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ounded Rectangle 7"/>
          <p:cNvSpPr/>
          <p:nvPr/>
        </p:nvSpPr>
        <p:spPr>
          <a:xfrm>
            <a:off x="777240" y="114300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Rounded Rectangle 8"/>
          <p:cNvSpPr/>
          <p:nvPr/>
        </p:nvSpPr>
        <p:spPr>
          <a:xfrm>
            <a:off x="941760" y="114300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9"/>
          <p:cNvSpPr/>
          <p:nvPr/>
        </p:nvSpPr>
        <p:spPr>
          <a:xfrm>
            <a:off x="1188720" y="1134000"/>
            <a:ext cx="3474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87878"/>
                </a:solidFill>
                <a:latin typeface="Calibri"/>
              </a:rPr>
              <a:t>obsapp.local / app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ectangle 10"/>
          <p:cNvSpPr/>
          <p:nvPr/>
        </p:nvSpPr>
        <p:spPr>
          <a:xfrm>
            <a:off x="640080" y="1508760"/>
            <a:ext cx="8137800" cy="38376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11"/>
          <p:cNvSpPr/>
          <p:nvPr/>
        </p:nvSpPr>
        <p:spPr>
          <a:xfrm>
            <a:off x="777240" y="1600200"/>
            <a:ext cx="502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ObsApp   |   Dashboard   |   Tenant / schooljaar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ectangle 12"/>
          <p:cNvSpPr/>
          <p:nvPr/>
        </p:nvSpPr>
        <p:spPr>
          <a:xfrm>
            <a:off x="640080" y="1965960"/>
            <a:ext cx="1691280" cy="443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ounded Rectangle 13"/>
          <p:cNvSpPr/>
          <p:nvPr/>
        </p:nvSpPr>
        <p:spPr>
          <a:xfrm>
            <a:off x="804600" y="210312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Dashboard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Rounded Rectangle 14"/>
          <p:cNvSpPr/>
          <p:nvPr/>
        </p:nvSpPr>
        <p:spPr>
          <a:xfrm>
            <a:off x="804600" y="25056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Klas kiezen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ounded Rectangle 15"/>
          <p:cNvSpPr/>
          <p:nvPr/>
        </p:nvSpPr>
        <p:spPr>
          <a:xfrm>
            <a:off x="804600" y="290772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Observaties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Rounded Rectangle 16"/>
          <p:cNvSpPr/>
          <p:nvPr/>
        </p:nvSpPr>
        <p:spPr>
          <a:xfrm>
            <a:off x="804600" y="33102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Matrix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ounded Rectangle 17"/>
          <p:cNvSpPr/>
          <p:nvPr/>
        </p:nvSpPr>
        <p:spPr>
          <a:xfrm>
            <a:off x="804600" y="371232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Leerlingen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Rounded Rectangle 18"/>
          <p:cNvSpPr/>
          <p:nvPr/>
        </p:nvSpPr>
        <p:spPr>
          <a:xfrm>
            <a:off x="804600" y="41148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Flags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ounded Rectangle 19"/>
          <p:cNvSpPr/>
          <p:nvPr/>
        </p:nvSpPr>
        <p:spPr>
          <a:xfrm>
            <a:off x="804600" y="451728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Woordenschat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Rounded Rectangle 20"/>
          <p:cNvSpPr/>
          <p:nvPr/>
        </p:nvSpPr>
        <p:spPr>
          <a:xfrm>
            <a:off x="804600" y="49194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Export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ounded Rectangle 21"/>
          <p:cNvSpPr/>
          <p:nvPr/>
        </p:nvSpPr>
        <p:spPr>
          <a:xfrm>
            <a:off x="804600" y="532188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Instellingen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Rounded Rectangle 22"/>
          <p:cNvSpPr/>
          <p:nvPr/>
        </p:nvSpPr>
        <p:spPr>
          <a:xfrm>
            <a:off x="2468880" y="2057400"/>
            <a:ext cx="1645560" cy="86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Box 23"/>
          <p:cNvSpPr/>
          <p:nvPr/>
        </p:nvSpPr>
        <p:spPr>
          <a:xfrm>
            <a:off x="2578680" y="2130480"/>
            <a:ext cx="1425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Actieve klas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24"/>
          <p:cNvSpPr/>
          <p:nvPr/>
        </p:nvSpPr>
        <p:spPr>
          <a:xfrm>
            <a:off x="2578680" y="2331720"/>
            <a:ext cx="1425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Klas Beer – K2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Rounded Rectangle 25"/>
          <p:cNvSpPr/>
          <p:nvPr/>
        </p:nvSpPr>
        <p:spPr>
          <a:xfrm>
            <a:off x="4297680" y="2057400"/>
            <a:ext cx="1645560" cy="86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26"/>
          <p:cNvSpPr/>
          <p:nvPr/>
        </p:nvSpPr>
        <p:spPr>
          <a:xfrm>
            <a:off x="4407480" y="2130480"/>
            <a:ext cx="1425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Open flags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27"/>
          <p:cNvSpPr/>
          <p:nvPr/>
        </p:nvSpPr>
        <p:spPr>
          <a:xfrm>
            <a:off x="4407480" y="2331720"/>
            <a:ext cx="1425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12 open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Rounded Rectangle 28"/>
          <p:cNvSpPr/>
          <p:nvPr/>
        </p:nvSpPr>
        <p:spPr>
          <a:xfrm>
            <a:off x="6126480" y="2057400"/>
            <a:ext cx="1645560" cy="86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Box 29"/>
          <p:cNvSpPr/>
          <p:nvPr/>
        </p:nvSpPr>
        <p:spPr>
          <a:xfrm>
            <a:off x="6236280" y="2130480"/>
            <a:ext cx="1425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Actief thema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30"/>
          <p:cNvSpPr/>
          <p:nvPr/>
        </p:nvSpPr>
        <p:spPr>
          <a:xfrm>
            <a:off x="6236280" y="2331720"/>
            <a:ext cx="1425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Lente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ounded Rectangle 31"/>
          <p:cNvSpPr/>
          <p:nvPr/>
        </p:nvSpPr>
        <p:spPr>
          <a:xfrm>
            <a:off x="7955280" y="2057400"/>
            <a:ext cx="1645560" cy="86832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32"/>
          <p:cNvSpPr/>
          <p:nvPr/>
        </p:nvSpPr>
        <p:spPr>
          <a:xfrm>
            <a:off x="8065080" y="2130480"/>
            <a:ext cx="1425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Exportstatus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Box 33"/>
          <p:cNvSpPr/>
          <p:nvPr/>
        </p:nvSpPr>
        <p:spPr>
          <a:xfrm>
            <a:off x="8065080" y="2331720"/>
            <a:ext cx="1425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1 PDF klaar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ounded Rectangle 34"/>
          <p:cNvSpPr/>
          <p:nvPr/>
        </p:nvSpPr>
        <p:spPr>
          <a:xfrm>
            <a:off x="2468880" y="3136320"/>
            <a:ext cx="356580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Box 35"/>
          <p:cNvSpPr/>
          <p:nvPr/>
        </p:nvSpPr>
        <p:spPr>
          <a:xfrm>
            <a:off x="2578680" y="3209400"/>
            <a:ext cx="334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Recente taken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36"/>
          <p:cNvSpPr/>
          <p:nvPr/>
        </p:nvSpPr>
        <p:spPr>
          <a:xfrm>
            <a:off x="2578680" y="3410640"/>
            <a:ext cx="334620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observeer verder in Klas Beer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3 flags nakijken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leerling 4 openen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woordenschat aanvullen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Rounded Rectangle 37"/>
          <p:cNvSpPr/>
          <p:nvPr/>
        </p:nvSpPr>
        <p:spPr>
          <a:xfrm>
            <a:off x="6263640" y="3136320"/>
            <a:ext cx="3337200" cy="196560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38"/>
          <p:cNvSpPr/>
          <p:nvPr/>
        </p:nvSpPr>
        <p:spPr>
          <a:xfrm>
            <a:off x="6373440" y="3209400"/>
            <a:ext cx="3117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Snelle acties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39"/>
          <p:cNvSpPr/>
          <p:nvPr/>
        </p:nvSpPr>
        <p:spPr>
          <a:xfrm>
            <a:off x="6373440" y="3410640"/>
            <a:ext cx="311760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[ observaties ]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[ matrix ]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[ leerling zoeken ]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[ export ]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Rounded Rectangle 40"/>
          <p:cNvSpPr/>
          <p:nvPr/>
        </p:nvSpPr>
        <p:spPr>
          <a:xfrm>
            <a:off x="2468880" y="5303520"/>
            <a:ext cx="71319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41"/>
          <p:cNvSpPr/>
          <p:nvPr/>
        </p:nvSpPr>
        <p:spPr>
          <a:xfrm>
            <a:off x="2578680" y="5376600"/>
            <a:ext cx="6912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Widgetrij / feed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42"/>
          <p:cNvSpPr/>
          <p:nvPr/>
        </p:nvSpPr>
        <p:spPr>
          <a:xfrm>
            <a:off x="2578680" y="5577840"/>
            <a:ext cx="6912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eventueel recente leerlingen, meldingen, onboarding of tenant-specifieke widgets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ounded Rectangle 43"/>
          <p:cNvSpPr/>
          <p:nvPr/>
        </p:nvSpPr>
        <p:spPr>
          <a:xfrm>
            <a:off x="9098280" y="1188720"/>
            <a:ext cx="2514240" cy="489168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Box 44"/>
          <p:cNvSpPr/>
          <p:nvPr/>
        </p:nvSpPr>
        <p:spPr>
          <a:xfrm>
            <a:off x="9208080" y="1261800"/>
            <a:ext cx="22946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232323"/>
                </a:solidFill>
                <a:latin typeface="Calibri"/>
              </a:rPr>
              <a:t>ANNOTATIES / BUILD NOTES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45"/>
          <p:cNvSpPr/>
          <p:nvPr/>
        </p:nvSpPr>
        <p:spPr>
          <a:xfrm>
            <a:off x="9208080" y="147204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464646"/>
                </a:solidFill>
                <a:latin typeface="Calibri"/>
              </a:rPr>
              <a:t>Route: /dashboard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Box 46"/>
          <p:cNvSpPr/>
          <p:nvPr/>
        </p:nvSpPr>
        <p:spPr>
          <a:xfrm>
            <a:off x="9208080" y="1664280"/>
            <a:ext cx="229464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Doel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Landing screen na login; brengt gebruiker snel terug naar de laatst logische taak.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Box 47"/>
          <p:cNvSpPr/>
          <p:nvPr/>
        </p:nvSpPr>
        <p:spPr>
          <a:xfrm>
            <a:off x="9208080" y="208476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Componenten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48"/>
          <p:cNvSpPr/>
          <p:nvPr/>
        </p:nvSpPr>
        <p:spPr>
          <a:xfrm>
            <a:off x="9244440" y="224928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1. app shell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49"/>
          <p:cNvSpPr/>
          <p:nvPr/>
        </p:nvSpPr>
        <p:spPr>
          <a:xfrm>
            <a:off x="9244440" y="241416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2. summary cards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50"/>
          <p:cNvSpPr/>
          <p:nvPr/>
        </p:nvSpPr>
        <p:spPr>
          <a:xfrm>
            <a:off x="9244440" y="257868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3. recent tasks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51"/>
          <p:cNvSpPr/>
          <p:nvPr/>
        </p:nvSpPr>
        <p:spPr>
          <a:xfrm>
            <a:off x="9244440" y="274320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4. quick actions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52"/>
          <p:cNvSpPr/>
          <p:nvPr/>
        </p:nvSpPr>
        <p:spPr>
          <a:xfrm>
            <a:off x="9244440" y="290772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5. widget/feed zone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53"/>
          <p:cNvSpPr/>
          <p:nvPr/>
        </p:nvSpPr>
        <p:spPr>
          <a:xfrm>
            <a:off x="9208080" y="314568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States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Box 54"/>
          <p:cNvSpPr/>
          <p:nvPr/>
        </p:nvSpPr>
        <p:spPr>
          <a:xfrm>
            <a:off x="9244440" y="331020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first load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Box 55"/>
          <p:cNvSpPr/>
          <p:nvPr/>
        </p:nvSpPr>
        <p:spPr>
          <a:xfrm>
            <a:off x="9244440" y="347472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no active class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56"/>
          <p:cNvSpPr/>
          <p:nvPr/>
        </p:nvSpPr>
        <p:spPr>
          <a:xfrm>
            <a:off x="9244440" y="363924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has alerts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57"/>
          <p:cNvSpPr/>
          <p:nvPr/>
        </p:nvSpPr>
        <p:spPr>
          <a:xfrm>
            <a:off x="9244440" y="380376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empty dashboard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58"/>
          <p:cNvSpPr/>
          <p:nvPr/>
        </p:nvSpPr>
        <p:spPr>
          <a:xfrm>
            <a:off x="9208080" y="404172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Technische notities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59"/>
          <p:cNvSpPr/>
          <p:nvPr/>
        </p:nvSpPr>
        <p:spPr>
          <a:xfrm>
            <a:off x="9244440" y="420624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kan server-side gerenderd worden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60"/>
          <p:cNvSpPr/>
          <p:nvPr/>
        </p:nvSpPr>
        <p:spPr>
          <a:xfrm>
            <a:off x="9244440" y="437076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widgets zijn afzonderlijk laadbaar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61"/>
          <p:cNvSpPr/>
          <p:nvPr/>
        </p:nvSpPr>
        <p:spPr>
          <a:xfrm>
            <a:off x="9244440" y="453528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koppelt sterk aan user context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Rounded Rectangle 62"/>
          <p:cNvSpPr/>
          <p:nvPr/>
        </p:nvSpPr>
        <p:spPr>
          <a:xfrm>
            <a:off x="2514600" y="213048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1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41" name="Connector 63"/>
          <p:cNvCxnSpPr/>
          <p:nvPr/>
        </p:nvCxnSpPr>
        <p:spPr>
          <a:xfrm flipV="1">
            <a:off x="2628720" y="2148840"/>
            <a:ext cx="6607080" cy="9612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242" name="Rounded Rectangle 64"/>
          <p:cNvSpPr/>
          <p:nvPr/>
        </p:nvSpPr>
        <p:spPr>
          <a:xfrm>
            <a:off x="4663440" y="216720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2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43" name="Connector 65"/>
          <p:cNvCxnSpPr/>
          <p:nvPr/>
        </p:nvCxnSpPr>
        <p:spPr>
          <a:xfrm>
            <a:off x="4777560" y="2281320"/>
            <a:ext cx="4458240" cy="5076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244" name="Rounded Rectangle 66"/>
          <p:cNvSpPr/>
          <p:nvPr/>
        </p:nvSpPr>
        <p:spPr>
          <a:xfrm>
            <a:off x="2834640" y="361188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3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45" name="Connector 67"/>
          <p:cNvCxnSpPr/>
          <p:nvPr/>
        </p:nvCxnSpPr>
        <p:spPr>
          <a:xfrm flipV="1">
            <a:off x="2948760" y="2514600"/>
            <a:ext cx="6287040" cy="121176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246" name="Rounded Rectangle 68"/>
          <p:cNvSpPr/>
          <p:nvPr/>
        </p:nvSpPr>
        <p:spPr>
          <a:xfrm>
            <a:off x="6583680" y="361188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4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47" name="Connector 69"/>
          <p:cNvCxnSpPr/>
          <p:nvPr/>
        </p:nvCxnSpPr>
        <p:spPr>
          <a:xfrm flipV="1">
            <a:off x="6697800" y="2697480"/>
            <a:ext cx="2538000" cy="102888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248" name="Rounded Rectangle 70"/>
          <p:cNvSpPr/>
          <p:nvPr/>
        </p:nvSpPr>
        <p:spPr>
          <a:xfrm>
            <a:off x="4297680" y="571500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5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49" name="Connector 71"/>
          <p:cNvCxnSpPr/>
          <p:nvPr/>
        </p:nvCxnSpPr>
        <p:spPr>
          <a:xfrm flipV="1">
            <a:off x="4411800" y="2880360"/>
            <a:ext cx="4824000" cy="294912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ctangle 1"/>
          <p:cNvSpPr/>
          <p:nvPr/>
        </p:nvSpPr>
        <p:spPr>
          <a:xfrm>
            <a:off x="320040" y="182880"/>
            <a:ext cx="11521080" cy="5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232323"/>
                </a:solidFill>
                <a:latin typeface="Calibri"/>
              </a:rPr>
              <a:t>3. Observeer – vakmodus (annotated)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2"/>
          <p:cNvSpPr/>
          <p:nvPr/>
        </p:nvSpPr>
        <p:spPr>
          <a:xfrm>
            <a:off x="347400" y="694800"/>
            <a:ext cx="10972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ObsApp-hoofdscherm voor observatie per vak en leerdoel.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52" name="Connector 3"/>
          <p:cNvCxnSpPr/>
          <p:nvPr/>
        </p:nvCxnSpPr>
        <p:spPr>
          <a:xfrm>
            <a:off x="320040" y="932400"/>
            <a:ext cx="11521800" cy="360"/>
          </a:xfrm>
          <a:prstGeom prst="straightConnector1">
            <a:avLst/>
          </a:prstGeom>
          <a:ln w="15240">
            <a:solidFill>
              <a:srgbClr val="d5d5d5"/>
            </a:solidFill>
            <a:round/>
          </a:ln>
        </p:spPr>
      </p:cxnSp>
      <p:sp>
        <p:nvSpPr>
          <p:cNvPr id="253" name="Rectangle 4"/>
          <p:cNvSpPr/>
          <p:nvPr/>
        </p:nvSpPr>
        <p:spPr>
          <a:xfrm>
            <a:off x="411480" y="1024200"/>
            <a:ext cx="11292480" cy="548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Rectangle 5"/>
          <p:cNvSpPr/>
          <p:nvPr/>
        </p:nvSpPr>
        <p:spPr>
          <a:xfrm>
            <a:off x="411480" y="1024200"/>
            <a:ext cx="11292480" cy="32868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Rounded Rectangle 6"/>
          <p:cNvSpPr/>
          <p:nvPr/>
        </p:nvSpPr>
        <p:spPr>
          <a:xfrm>
            <a:off x="521280" y="111564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Rounded Rectangle 7"/>
          <p:cNvSpPr/>
          <p:nvPr/>
        </p:nvSpPr>
        <p:spPr>
          <a:xfrm>
            <a:off x="685800" y="111564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ounded Rectangle 8"/>
          <p:cNvSpPr/>
          <p:nvPr/>
        </p:nvSpPr>
        <p:spPr>
          <a:xfrm>
            <a:off x="850320" y="111564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Box 9"/>
          <p:cNvSpPr/>
          <p:nvPr/>
        </p:nvSpPr>
        <p:spPr>
          <a:xfrm>
            <a:off x="1097280" y="1106280"/>
            <a:ext cx="3474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87878"/>
                </a:solidFill>
                <a:latin typeface="Calibri"/>
              </a:rPr>
              <a:t>obsapp.local / app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Rectangle 10"/>
          <p:cNvSpPr/>
          <p:nvPr/>
        </p:nvSpPr>
        <p:spPr>
          <a:xfrm>
            <a:off x="548640" y="1481400"/>
            <a:ext cx="11018160" cy="38376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11"/>
          <p:cNvSpPr/>
          <p:nvPr/>
        </p:nvSpPr>
        <p:spPr>
          <a:xfrm>
            <a:off x="685800" y="1572840"/>
            <a:ext cx="502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ObsApp   |   Observaties / vakmodus   |   Tenant / schooljaar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Rectangle 12"/>
          <p:cNvSpPr/>
          <p:nvPr/>
        </p:nvSpPr>
        <p:spPr>
          <a:xfrm>
            <a:off x="548640" y="1938600"/>
            <a:ext cx="1691280" cy="443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Rounded Rectangle 13"/>
          <p:cNvSpPr/>
          <p:nvPr/>
        </p:nvSpPr>
        <p:spPr>
          <a:xfrm>
            <a:off x="713160" y="207576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Dashboard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Rounded Rectangle 14"/>
          <p:cNvSpPr/>
          <p:nvPr/>
        </p:nvSpPr>
        <p:spPr>
          <a:xfrm>
            <a:off x="713160" y="247788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Klas kiezen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Rounded Rectangle 15"/>
          <p:cNvSpPr/>
          <p:nvPr/>
        </p:nvSpPr>
        <p:spPr>
          <a:xfrm>
            <a:off x="713160" y="288036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Observaties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Rounded Rectangle 16"/>
          <p:cNvSpPr/>
          <p:nvPr/>
        </p:nvSpPr>
        <p:spPr>
          <a:xfrm>
            <a:off x="713160" y="328284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Matrix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Rounded Rectangle 17"/>
          <p:cNvSpPr/>
          <p:nvPr/>
        </p:nvSpPr>
        <p:spPr>
          <a:xfrm>
            <a:off x="713160" y="368496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Leerlingen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Rounded Rectangle 18"/>
          <p:cNvSpPr/>
          <p:nvPr/>
        </p:nvSpPr>
        <p:spPr>
          <a:xfrm>
            <a:off x="713160" y="408744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Flags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Rounded Rectangle 19"/>
          <p:cNvSpPr/>
          <p:nvPr/>
        </p:nvSpPr>
        <p:spPr>
          <a:xfrm>
            <a:off x="713160" y="448956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Woordenschat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Rounded Rectangle 20"/>
          <p:cNvSpPr/>
          <p:nvPr/>
        </p:nvSpPr>
        <p:spPr>
          <a:xfrm>
            <a:off x="713160" y="489204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Export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Rounded Rectangle 21"/>
          <p:cNvSpPr/>
          <p:nvPr/>
        </p:nvSpPr>
        <p:spPr>
          <a:xfrm>
            <a:off x="713160" y="529452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Instellingen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Box 22"/>
          <p:cNvSpPr/>
          <p:nvPr/>
        </p:nvSpPr>
        <p:spPr>
          <a:xfrm>
            <a:off x="2377440" y="1865520"/>
            <a:ext cx="13712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464646"/>
                </a:solidFill>
                <a:latin typeface="Calibri"/>
              </a:rPr>
              <a:t>Klas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Rounded Rectangle 23"/>
          <p:cNvSpPr/>
          <p:nvPr/>
        </p:nvSpPr>
        <p:spPr>
          <a:xfrm>
            <a:off x="2377440" y="2011680"/>
            <a:ext cx="137124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Klas Beer – K2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Box 24"/>
          <p:cNvSpPr/>
          <p:nvPr/>
        </p:nvSpPr>
        <p:spPr>
          <a:xfrm>
            <a:off x="3977640" y="1865520"/>
            <a:ext cx="14626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464646"/>
                </a:solidFill>
                <a:latin typeface="Calibri"/>
              </a:rPr>
              <a:t>Vak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Rounded Rectangle 25"/>
          <p:cNvSpPr/>
          <p:nvPr/>
        </p:nvSpPr>
        <p:spPr>
          <a:xfrm>
            <a:off x="3977640" y="2011680"/>
            <a:ext cx="146268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Nederlands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Box 26"/>
          <p:cNvSpPr/>
          <p:nvPr/>
        </p:nvSpPr>
        <p:spPr>
          <a:xfrm>
            <a:off x="5623560" y="1865520"/>
            <a:ext cx="1965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464646"/>
                </a:solidFill>
                <a:latin typeface="Calibri"/>
              </a:rPr>
              <a:t>Zoek/filter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Rounded Rectangle 27"/>
          <p:cNvSpPr/>
          <p:nvPr/>
        </p:nvSpPr>
        <p:spPr>
          <a:xfrm>
            <a:off x="5623560" y="2011680"/>
            <a:ext cx="196560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leerling of doel…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Rounded Rectangle 28"/>
          <p:cNvSpPr/>
          <p:nvPr/>
        </p:nvSpPr>
        <p:spPr>
          <a:xfrm>
            <a:off x="7790760" y="2011680"/>
            <a:ext cx="1096920" cy="36540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232323"/>
                </a:solidFill>
                <a:latin typeface="Calibri"/>
              </a:rPr>
              <a:t>Opslaan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29"/>
          <p:cNvSpPr/>
          <p:nvPr/>
        </p:nvSpPr>
        <p:spPr>
          <a:xfrm>
            <a:off x="2377440" y="2505600"/>
            <a:ext cx="1828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464646"/>
                </a:solidFill>
                <a:latin typeface="Calibri"/>
              </a:rPr>
              <a:t>Geselecteerde leerdoelen (max 4)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Rounded Rectangle 30"/>
          <p:cNvSpPr/>
          <p:nvPr/>
        </p:nvSpPr>
        <p:spPr>
          <a:xfrm>
            <a:off x="2377440" y="2651760"/>
            <a:ext cx="1051200" cy="27396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Doel 1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Rounded Rectangle 31"/>
          <p:cNvSpPr/>
          <p:nvPr/>
        </p:nvSpPr>
        <p:spPr>
          <a:xfrm>
            <a:off x="3529440" y="2651760"/>
            <a:ext cx="1051200" cy="27396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Doel 2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Rounded Rectangle 32"/>
          <p:cNvSpPr/>
          <p:nvPr/>
        </p:nvSpPr>
        <p:spPr>
          <a:xfrm>
            <a:off x="4681800" y="2651760"/>
            <a:ext cx="1051200" cy="27396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Doel 3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Rounded Rectangle 33"/>
          <p:cNvSpPr/>
          <p:nvPr/>
        </p:nvSpPr>
        <p:spPr>
          <a:xfrm>
            <a:off x="5833800" y="2651760"/>
            <a:ext cx="1051200" cy="27396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Doel 4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Rectangle 34"/>
          <p:cNvSpPr/>
          <p:nvPr/>
        </p:nvSpPr>
        <p:spPr>
          <a:xfrm>
            <a:off x="2377440" y="3063240"/>
            <a:ext cx="1416960" cy="38376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20" spc="-1" strike="noStrike">
                <a:solidFill>
                  <a:srgbClr val="232323"/>
                </a:solidFill>
                <a:latin typeface="Calibri"/>
              </a:rPr>
              <a:t>Leerling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Rectangle 35"/>
          <p:cNvSpPr/>
          <p:nvPr/>
        </p:nvSpPr>
        <p:spPr>
          <a:xfrm>
            <a:off x="3794760" y="3063240"/>
            <a:ext cx="1298160" cy="38376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20" spc="-1" strike="noStrike">
                <a:solidFill>
                  <a:srgbClr val="232323"/>
                </a:solidFill>
                <a:latin typeface="Calibri"/>
              </a:rPr>
              <a:t>Doel 1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Rectangle 36"/>
          <p:cNvSpPr/>
          <p:nvPr/>
        </p:nvSpPr>
        <p:spPr>
          <a:xfrm>
            <a:off x="5093280" y="3063240"/>
            <a:ext cx="1298160" cy="38376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20" spc="-1" strike="noStrike">
                <a:solidFill>
                  <a:srgbClr val="232323"/>
                </a:solidFill>
                <a:latin typeface="Calibri"/>
              </a:rPr>
              <a:t>Doel 2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Rectangle 37"/>
          <p:cNvSpPr/>
          <p:nvPr/>
        </p:nvSpPr>
        <p:spPr>
          <a:xfrm>
            <a:off x="6391800" y="3063240"/>
            <a:ext cx="1298160" cy="38376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20" spc="-1" strike="noStrike">
                <a:solidFill>
                  <a:srgbClr val="232323"/>
                </a:solidFill>
                <a:latin typeface="Calibri"/>
              </a:rPr>
              <a:t>Doel 3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Rectangle 38"/>
          <p:cNvSpPr/>
          <p:nvPr/>
        </p:nvSpPr>
        <p:spPr>
          <a:xfrm>
            <a:off x="7689960" y="3063240"/>
            <a:ext cx="1298160" cy="38376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20" spc="-1" strike="noStrike">
                <a:solidFill>
                  <a:srgbClr val="232323"/>
                </a:solidFill>
                <a:latin typeface="Calibri"/>
              </a:rPr>
              <a:t>Doel 4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Rectangle 39"/>
          <p:cNvSpPr/>
          <p:nvPr/>
        </p:nvSpPr>
        <p:spPr>
          <a:xfrm>
            <a:off x="2377440" y="3447360"/>
            <a:ext cx="14169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Mila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Rectangle 40"/>
          <p:cNvSpPr/>
          <p:nvPr/>
        </p:nvSpPr>
        <p:spPr>
          <a:xfrm>
            <a:off x="3794760" y="344736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Rectangle 41"/>
          <p:cNvSpPr/>
          <p:nvPr/>
        </p:nvSpPr>
        <p:spPr>
          <a:xfrm>
            <a:off x="5093280" y="344736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Rectangle 42"/>
          <p:cNvSpPr/>
          <p:nvPr/>
        </p:nvSpPr>
        <p:spPr>
          <a:xfrm>
            <a:off x="6391800" y="344736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Rectangle 43"/>
          <p:cNvSpPr/>
          <p:nvPr/>
        </p:nvSpPr>
        <p:spPr>
          <a:xfrm>
            <a:off x="7689960" y="344736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Rectangle 44"/>
          <p:cNvSpPr/>
          <p:nvPr/>
        </p:nvSpPr>
        <p:spPr>
          <a:xfrm>
            <a:off x="2377440" y="3858840"/>
            <a:ext cx="14169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Noor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Rectangle 45"/>
          <p:cNvSpPr/>
          <p:nvPr/>
        </p:nvSpPr>
        <p:spPr>
          <a:xfrm>
            <a:off x="3794760" y="385884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Rectangle 46"/>
          <p:cNvSpPr/>
          <p:nvPr/>
        </p:nvSpPr>
        <p:spPr>
          <a:xfrm>
            <a:off x="5093280" y="385884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Rectangle 47"/>
          <p:cNvSpPr/>
          <p:nvPr/>
        </p:nvSpPr>
        <p:spPr>
          <a:xfrm>
            <a:off x="6391800" y="385884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Rectangle 48"/>
          <p:cNvSpPr/>
          <p:nvPr/>
        </p:nvSpPr>
        <p:spPr>
          <a:xfrm>
            <a:off x="7689960" y="385884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Rectangle 49"/>
          <p:cNvSpPr/>
          <p:nvPr/>
        </p:nvSpPr>
        <p:spPr>
          <a:xfrm>
            <a:off x="2377440" y="4270320"/>
            <a:ext cx="14169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Lars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Rectangle 50"/>
          <p:cNvSpPr/>
          <p:nvPr/>
        </p:nvSpPr>
        <p:spPr>
          <a:xfrm>
            <a:off x="3794760" y="427032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Rectangle 51"/>
          <p:cNvSpPr/>
          <p:nvPr/>
        </p:nvSpPr>
        <p:spPr>
          <a:xfrm>
            <a:off x="5093280" y="427032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Rectangle 52"/>
          <p:cNvSpPr/>
          <p:nvPr/>
        </p:nvSpPr>
        <p:spPr>
          <a:xfrm>
            <a:off x="6391800" y="427032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Rectangle 53"/>
          <p:cNvSpPr/>
          <p:nvPr/>
        </p:nvSpPr>
        <p:spPr>
          <a:xfrm>
            <a:off x="7689960" y="427032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Rectangle 54"/>
          <p:cNvSpPr/>
          <p:nvPr/>
        </p:nvSpPr>
        <p:spPr>
          <a:xfrm>
            <a:off x="2377440" y="4681800"/>
            <a:ext cx="14169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Adam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Rectangle 55"/>
          <p:cNvSpPr/>
          <p:nvPr/>
        </p:nvSpPr>
        <p:spPr>
          <a:xfrm>
            <a:off x="3794760" y="468180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Rectangle 56"/>
          <p:cNvSpPr/>
          <p:nvPr/>
        </p:nvSpPr>
        <p:spPr>
          <a:xfrm>
            <a:off x="5093280" y="468180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Rectangle 57"/>
          <p:cNvSpPr/>
          <p:nvPr/>
        </p:nvSpPr>
        <p:spPr>
          <a:xfrm>
            <a:off x="6391800" y="468180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Rectangle 58"/>
          <p:cNvSpPr/>
          <p:nvPr/>
        </p:nvSpPr>
        <p:spPr>
          <a:xfrm>
            <a:off x="7689960" y="468180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Rectangle 59"/>
          <p:cNvSpPr/>
          <p:nvPr/>
        </p:nvSpPr>
        <p:spPr>
          <a:xfrm>
            <a:off x="2377440" y="5093280"/>
            <a:ext cx="14169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Lina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Rectangle 60"/>
          <p:cNvSpPr/>
          <p:nvPr/>
        </p:nvSpPr>
        <p:spPr>
          <a:xfrm>
            <a:off x="3794760" y="509328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Rectangle 61"/>
          <p:cNvSpPr/>
          <p:nvPr/>
        </p:nvSpPr>
        <p:spPr>
          <a:xfrm>
            <a:off x="5093280" y="509328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Rectangle 62"/>
          <p:cNvSpPr/>
          <p:nvPr/>
        </p:nvSpPr>
        <p:spPr>
          <a:xfrm>
            <a:off x="6391800" y="509328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Rectangle 63"/>
          <p:cNvSpPr/>
          <p:nvPr/>
        </p:nvSpPr>
        <p:spPr>
          <a:xfrm>
            <a:off x="7689960" y="509328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Rectangle 64"/>
          <p:cNvSpPr/>
          <p:nvPr/>
        </p:nvSpPr>
        <p:spPr>
          <a:xfrm>
            <a:off x="2377440" y="5504760"/>
            <a:ext cx="14169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Yuna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Rectangle 65"/>
          <p:cNvSpPr/>
          <p:nvPr/>
        </p:nvSpPr>
        <p:spPr>
          <a:xfrm>
            <a:off x="3794760" y="550476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Rectangle 66"/>
          <p:cNvSpPr/>
          <p:nvPr/>
        </p:nvSpPr>
        <p:spPr>
          <a:xfrm>
            <a:off x="5093280" y="550476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Rectangle 67"/>
          <p:cNvSpPr/>
          <p:nvPr/>
        </p:nvSpPr>
        <p:spPr>
          <a:xfrm>
            <a:off x="6391800" y="550476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Rectangle 68"/>
          <p:cNvSpPr/>
          <p:nvPr/>
        </p:nvSpPr>
        <p:spPr>
          <a:xfrm>
            <a:off x="7689960" y="550476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Rectangle 69"/>
          <p:cNvSpPr/>
          <p:nvPr/>
        </p:nvSpPr>
        <p:spPr>
          <a:xfrm>
            <a:off x="2377440" y="5916240"/>
            <a:ext cx="14169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Sam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Rectangle 70"/>
          <p:cNvSpPr/>
          <p:nvPr/>
        </p:nvSpPr>
        <p:spPr>
          <a:xfrm>
            <a:off x="3794760" y="591624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Rectangle 71"/>
          <p:cNvSpPr/>
          <p:nvPr/>
        </p:nvSpPr>
        <p:spPr>
          <a:xfrm>
            <a:off x="5093280" y="591624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Rectangle 72"/>
          <p:cNvSpPr/>
          <p:nvPr/>
        </p:nvSpPr>
        <p:spPr>
          <a:xfrm>
            <a:off x="6391800" y="591624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Rectangle 73"/>
          <p:cNvSpPr/>
          <p:nvPr/>
        </p:nvSpPr>
        <p:spPr>
          <a:xfrm>
            <a:off x="7689960" y="591624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Rounded Rectangle 74"/>
          <p:cNvSpPr/>
          <p:nvPr/>
        </p:nvSpPr>
        <p:spPr>
          <a:xfrm>
            <a:off x="9281160" y="2011680"/>
            <a:ext cx="2239920" cy="297144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Box 75"/>
          <p:cNvSpPr/>
          <p:nvPr/>
        </p:nvSpPr>
        <p:spPr>
          <a:xfrm>
            <a:off x="9390960" y="2084760"/>
            <a:ext cx="2020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Cell detail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Box 76"/>
          <p:cNvSpPr/>
          <p:nvPr/>
        </p:nvSpPr>
        <p:spPr>
          <a:xfrm>
            <a:off x="9390960" y="2304360"/>
            <a:ext cx="2020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Leerling: Mila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Box 77"/>
          <p:cNvSpPr/>
          <p:nvPr/>
        </p:nvSpPr>
        <p:spPr>
          <a:xfrm>
            <a:off x="9390960" y="2487240"/>
            <a:ext cx="2020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Doel 1 | status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Rectangle 78"/>
          <p:cNvSpPr/>
          <p:nvPr/>
        </p:nvSpPr>
        <p:spPr>
          <a:xfrm>
            <a:off x="9390960" y="2688480"/>
            <a:ext cx="2020320" cy="548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Commentaarveld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Rounded Rectangle 79"/>
          <p:cNvSpPr/>
          <p:nvPr/>
        </p:nvSpPr>
        <p:spPr>
          <a:xfrm>
            <a:off x="9390960" y="3364920"/>
            <a:ext cx="776880" cy="29232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Flag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Rounded Rectangle 80"/>
          <p:cNvSpPr/>
          <p:nvPr/>
        </p:nvSpPr>
        <p:spPr>
          <a:xfrm>
            <a:off x="10287000" y="3364920"/>
            <a:ext cx="1005480" cy="29232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232323"/>
                </a:solidFill>
                <a:latin typeface="Calibri"/>
              </a:rPr>
              <a:t>Opslaan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Rounded Rectangle 81"/>
          <p:cNvSpPr/>
          <p:nvPr/>
        </p:nvSpPr>
        <p:spPr>
          <a:xfrm>
            <a:off x="9390960" y="3794760"/>
            <a:ext cx="2020320" cy="105120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232323"/>
                </a:solidFill>
                <a:latin typeface="Calibri"/>
              </a:rPr>
              <a:t>Interactie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• </a:t>
            </a: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klik/tik in cel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• </a:t>
            </a: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status kiezen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• </a:t>
            </a: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optioneel commentaar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• </a:t>
            </a: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savestate tonen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Rounded Rectangle 82"/>
          <p:cNvSpPr/>
          <p:nvPr/>
        </p:nvSpPr>
        <p:spPr>
          <a:xfrm>
            <a:off x="9646920" y="1188720"/>
            <a:ext cx="2239920" cy="498312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Box 83"/>
          <p:cNvSpPr/>
          <p:nvPr/>
        </p:nvSpPr>
        <p:spPr>
          <a:xfrm>
            <a:off x="9756720" y="1261800"/>
            <a:ext cx="202032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232323"/>
                </a:solidFill>
                <a:latin typeface="Calibri"/>
              </a:rPr>
              <a:t>ANNOTATIES / BUILD NOTES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Box 84"/>
          <p:cNvSpPr/>
          <p:nvPr/>
        </p:nvSpPr>
        <p:spPr>
          <a:xfrm>
            <a:off x="9756720" y="1472040"/>
            <a:ext cx="202032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464646"/>
                </a:solidFill>
                <a:latin typeface="Calibri"/>
              </a:rPr>
              <a:t>Route: /classes/:classId/observe?mode=subject&amp;subject=:subjectId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Box 85"/>
          <p:cNvSpPr/>
          <p:nvPr/>
        </p:nvSpPr>
        <p:spPr>
          <a:xfrm>
            <a:off x="9756720" y="1664280"/>
            <a:ext cx="202032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Doel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Supersnelle observatie-invoer met focus op 1 grid en minimale frictie.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86"/>
          <p:cNvSpPr/>
          <p:nvPr/>
        </p:nvSpPr>
        <p:spPr>
          <a:xfrm>
            <a:off x="9756720" y="2084760"/>
            <a:ext cx="2020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Componenten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Box 87"/>
          <p:cNvSpPr/>
          <p:nvPr/>
        </p:nvSpPr>
        <p:spPr>
          <a:xfrm>
            <a:off x="9793080" y="224928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1. app shell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Box 88"/>
          <p:cNvSpPr/>
          <p:nvPr/>
        </p:nvSpPr>
        <p:spPr>
          <a:xfrm>
            <a:off x="9793080" y="241416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2. contexttoolbar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Box 89"/>
          <p:cNvSpPr/>
          <p:nvPr/>
        </p:nvSpPr>
        <p:spPr>
          <a:xfrm>
            <a:off x="9793080" y="257868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3. goal chips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Box 90"/>
          <p:cNvSpPr/>
          <p:nvPr/>
        </p:nvSpPr>
        <p:spPr>
          <a:xfrm>
            <a:off x="9793080" y="274320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4. observation grid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Box 91"/>
          <p:cNvSpPr/>
          <p:nvPr/>
        </p:nvSpPr>
        <p:spPr>
          <a:xfrm>
            <a:off x="9793080" y="290772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5. cell detail panel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Box 92"/>
          <p:cNvSpPr/>
          <p:nvPr/>
        </p:nvSpPr>
        <p:spPr>
          <a:xfrm>
            <a:off x="9756720" y="3145680"/>
            <a:ext cx="2020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States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Box 93"/>
          <p:cNvSpPr/>
          <p:nvPr/>
        </p:nvSpPr>
        <p:spPr>
          <a:xfrm>
            <a:off x="9793080" y="331020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idle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Box 94"/>
          <p:cNvSpPr/>
          <p:nvPr/>
        </p:nvSpPr>
        <p:spPr>
          <a:xfrm>
            <a:off x="9793080" y="347472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saving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Box 95"/>
          <p:cNvSpPr/>
          <p:nvPr/>
        </p:nvSpPr>
        <p:spPr>
          <a:xfrm>
            <a:off x="9793080" y="363924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save success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Box 96"/>
          <p:cNvSpPr/>
          <p:nvPr/>
        </p:nvSpPr>
        <p:spPr>
          <a:xfrm>
            <a:off x="9793080" y="380376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save error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Box 97"/>
          <p:cNvSpPr/>
          <p:nvPr/>
        </p:nvSpPr>
        <p:spPr>
          <a:xfrm>
            <a:off x="9793080" y="396864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goal not selected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Box 98"/>
          <p:cNvSpPr/>
          <p:nvPr/>
        </p:nvSpPr>
        <p:spPr>
          <a:xfrm>
            <a:off x="9756720" y="4206240"/>
            <a:ext cx="2020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Technische notities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Box 99"/>
          <p:cNvSpPr/>
          <p:nvPr/>
        </p:nvSpPr>
        <p:spPr>
          <a:xfrm>
            <a:off x="9793080" y="437076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1 herbruikbare gridcomponent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Box 100"/>
          <p:cNvSpPr/>
          <p:nvPr/>
        </p:nvSpPr>
        <p:spPr>
          <a:xfrm>
            <a:off x="9793080" y="453528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cell save via partial AJAX/HTMX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Box 101"/>
          <p:cNvSpPr/>
          <p:nvPr/>
        </p:nvSpPr>
        <p:spPr>
          <a:xfrm>
            <a:off x="9793080" y="4700160"/>
            <a:ext cx="19472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detail side panel houdt edit state vast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Rounded Rectangle 102"/>
          <p:cNvSpPr/>
          <p:nvPr/>
        </p:nvSpPr>
        <p:spPr>
          <a:xfrm>
            <a:off x="2423160" y="207576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1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52" name="Connector 103"/>
          <p:cNvCxnSpPr/>
          <p:nvPr/>
        </p:nvCxnSpPr>
        <p:spPr>
          <a:xfrm>
            <a:off x="2537280" y="2189880"/>
            <a:ext cx="7155720" cy="2304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353" name="Rounded Rectangle 104"/>
          <p:cNvSpPr/>
          <p:nvPr/>
        </p:nvSpPr>
        <p:spPr>
          <a:xfrm>
            <a:off x="2514600" y="269748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2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54" name="Connector 105"/>
          <p:cNvCxnSpPr/>
          <p:nvPr/>
        </p:nvCxnSpPr>
        <p:spPr>
          <a:xfrm flipV="1">
            <a:off x="2628720" y="2395440"/>
            <a:ext cx="7064280" cy="41652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355" name="Rounded Rectangle 106"/>
          <p:cNvSpPr/>
          <p:nvPr/>
        </p:nvSpPr>
        <p:spPr>
          <a:xfrm>
            <a:off x="5303520" y="322776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3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56" name="Connector 107"/>
          <p:cNvCxnSpPr/>
          <p:nvPr/>
        </p:nvCxnSpPr>
        <p:spPr>
          <a:xfrm flipV="1">
            <a:off x="5417640" y="2578320"/>
            <a:ext cx="4275360" cy="76392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357" name="Rounded Rectangle 108"/>
          <p:cNvSpPr/>
          <p:nvPr/>
        </p:nvSpPr>
        <p:spPr>
          <a:xfrm>
            <a:off x="4937760" y="448056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4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58" name="Connector 109"/>
          <p:cNvCxnSpPr/>
          <p:nvPr/>
        </p:nvCxnSpPr>
        <p:spPr>
          <a:xfrm flipV="1">
            <a:off x="5051880" y="2761200"/>
            <a:ext cx="4641120" cy="183384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359" name="Rounded Rectangle 110"/>
          <p:cNvSpPr/>
          <p:nvPr/>
        </p:nvSpPr>
        <p:spPr>
          <a:xfrm>
            <a:off x="9354240" y="219456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5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60" name="Connector 111"/>
          <p:cNvCxnSpPr/>
          <p:nvPr/>
        </p:nvCxnSpPr>
        <p:spPr>
          <a:xfrm>
            <a:off x="9468360" y="2308680"/>
            <a:ext cx="224640" cy="63576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1"/>
          <p:cNvSpPr/>
          <p:nvPr/>
        </p:nvSpPr>
        <p:spPr>
          <a:xfrm>
            <a:off x="320040" y="182880"/>
            <a:ext cx="11521080" cy="5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232323"/>
                </a:solidFill>
                <a:latin typeface="Calibri"/>
              </a:rPr>
              <a:t>4. Observeer – themamodus (annotated)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Box 2"/>
          <p:cNvSpPr/>
          <p:nvPr/>
        </p:nvSpPr>
        <p:spPr>
          <a:xfrm>
            <a:off x="347400" y="694800"/>
            <a:ext cx="10972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ObsApp-variant waarbij thema de observatiecontext bepaalt.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63" name="Connector 3"/>
          <p:cNvCxnSpPr/>
          <p:nvPr/>
        </p:nvCxnSpPr>
        <p:spPr>
          <a:xfrm>
            <a:off x="320040" y="932400"/>
            <a:ext cx="11521800" cy="360"/>
          </a:xfrm>
          <a:prstGeom prst="straightConnector1">
            <a:avLst/>
          </a:prstGeom>
          <a:ln w="15240">
            <a:solidFill>
              <a:srgbClr val="d5d5d5"/>
            </a:solidFill>
            <a:round/>
          </a:ln>
        </p:spPr>
      </p:cxnSp>
      <p:sp>
        <p:nvSpPr>
          <p:cNvPr id="364" name="Rectangle 4"/>
          <p:cNvSpPr/>
          <p:nvPr/>
        </p:nvSpPr>
        <p:spPr>
          <a:xfrm>
            <a:off x="411480" y="1024200"/>
            <a:ext cx="11292480" cy="548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Rectangle 5"/>
          <p:cNvSpPr/>
          <p:nvPr/>
        </p:nvSpPr>
        <p:spPr>
          <a:xfrm>
            <a:off x="411480" y="1024200"/>
            <a:ext cx="11292480" cy="32868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Rounded Rectangle 6"/>
          <p:cNvSpPr/>
          <p:nvPr/>
        </p:nvSpPr>
        <p:spPr>
          <a:xfrm>
            <a:off x="521280" y="111564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Rounded Rectangle 7"/>
          <p:cNvSpPr/>
          <p:nvPr/>
        </p:nvSpPr>
        <p:spPr>
          <a:xfrm>
            <a:off x="685800" y="111564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Rounded Rectangle 8"/>
          <p:cNvSpPr/>
          <p:nvPr/>
        </p:nvSpPr>
        <p:spPr>
          <a:xfrm>
            <a:off x="850320" y="111564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Box 9"/>
          <p:cNvSpPr/>
          <p:nvPr/>
        </p:nvSpPr>
        <p:spPr>
          <a:xfrm>
            <a:off x="1097280" y="1106280"/>
            <a:ext cx="3474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87878"/>
                </a:solidFill>
                <a:latin typeface="Calibri"/>
              </a:rPr>
              <a:t>obsapp.local / app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Rectangle 10"/>
          <p:cNvSpPr/>
          <p:nvPr/>
        </p:nvSpPr>
        <p:spPr>
          <a:xfrm>
            <a:off x="548640" y="1481400"/>
            <a:ext cx="11018160" cy="38376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Box 11"/>
          <p:cNvSpPr/>
          <p:nvPr/>
        </p:nvSpPr>
        <p:spPr>
          <a:xfrm>
            <a:off x="685800" y="1572840"/>
            <a:ext cx="502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ObsApp   |   Observaties / themamodus   |   Tenant / schooljaar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Rectangle 12"/>
          <p:cNvSpPr/>
          <p:nvPr/>
        </p:nvSpPr>
        <p:spPr>
          <a:xfrm>
            <a:off x="548640" y="1938600"/>
            <a:ext cx="1691280" cy="443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Rounded Rectangle 13"/>
          <p:cNvSpPr/>
          <p:nvPr/>
        </p:nvSpPr>
        <p:spPr>
          <a:xfrm>
            <a:off x="713160" y="207576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Dashboard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Rounded Rectangle 14"/>
          <p:cNvSpPr/>
          <p:nvPr/>
        </p:nvSpPr>
        <p:spPr>
          <a:xfrm>
            <a:off x="713160" y="247788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Klas kiezen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Rounded Rectangle 15"/>
          <p:cNvSpPr/>
          <p:nvPr/>
        </p:nvSpPr>
        <p:spPr>
          <a:xfrm>
            <a:off x="713160" y="288036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Observaties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Rounded Rectangle 16"/>
          <p:cNvSpPr/>
          <p:nvPr/>
        </p:nvSpPr>
        <p:spPr>
          <a:xfrm>
            <a:off x="713160" y="328284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Matrix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Rounded Rectangle 17"/>
          <p:cNvSpPr/>
          <p:nvPr/>
        </p:nvSpPr>
        <p:spPr>
          <a:xfrm>
            <a:off x="713160" y="368496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Leerlingen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Rounded Rectangle 18"/>
          <p:cNvSpPr/>
          <p:nvPr/>
        </p:nvSpPr>
        <p:spPr>
          <a:xfrm>
            <a:off x="713160" y="408744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Flags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Rounded Rectangle 19"/>
          <p:cNvSpPr/>
          <p:nvPr/>
        </p:nvSpPr>
        <p:spPr>
          <a:xfrm>
            <a:off x="713160" y="448956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Woordenschat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Rounded Rectangle 20"/>
          <p:cNvSpPr/>
          <p:nvPr/>
        </p:nvSpPr>
        <p:spPr>
          <a:xfrm>
            <a:off x="713160" y="489204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Export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Rounded Rectangle 21"/>
          <p:cNvSpPr/>
          <p:nvPr/>
        </p:nvSpPr>
        <p:spPr>
          <a:xfrm>
            <a:off x="713160" y="529452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Instellingen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Box 22"/>
          <p:cNvSpPr/>
          <p:nvPr/>
        </p:nvSpPr>
        <p:spPr>
          <a:xfrm>
            <a:off x="2377440" y="1865520"/>
            <a:ext cx="13712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464646"/>
                </a:solidFill>
                <a:latin typeface="Calibri"/>
              </a:rPr>
              <a:t>Klas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Rounded Rectangle 23"/>
          <p:cNvSpPr/>
          <p:nvPr/>
        </p:nvSpPr>
        <p:spPr>
          <a:xfrm>
            <a:off x="2377440" y="2011680"/>
            <a:ext cx="137124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Klas Beer – K2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Box 24"/>
          <p:cNvSpPr/>
          <p:nvPr/>
        </p:nvSpPr>
        <p:spPr>
          <a:xfrm>
            <a:off x="3977640" y="1865520"/>
            <a:ext cx="14626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464646"/>
                </a:solidFill>
                <a:latin typeface="Calibri"/>
              </a:rPr>
              <a:t>Thema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Rounded Rectangle 25"/>
          <p:cNvSpPr/>
          <p:nvPr/>
        </p:nvSpPr>
        <p:spPr>
          <a:xfrm>
            <a:off x="3977640" y="2011680"/>
            <a:ext cx="146268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Lente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Box 26"/>
          <p:cNvSpPr/>
          <p:nvPr/>
        </p:nvSpPr>
        <p:spPr>
          <a:xfrm>
            <a:off x="5623560" y="1865520"/>
            <a:ext cx="1965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464646"/>
                </a:solidFill>
                <a:latin typeface="Calibri"/>
              </a:rPr>
              <a:t>Zoek/filter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Rounded Rectangle 27"/>
          <p:cNvSpPr/>
          <p:nvPr/>
        </p:nvSpPr>
        <p:spPr>
          <a:xfrm>
            <a:off x="5623560" y="2011680"/>
            <a:ext cx="196560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leerling of doel…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Rounded Rectangle 28"/>
          <p:cNvSpPr/>
          <p:nvPr/>
        </p:nvSpPr>
        <p:spPr>
          <a:xfrm>
            <a:off x="7790760" y="2011680"/>
            <a:ext cx="1096920" cy="36540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232323"/>
                </a:solidFill>
                <a:latin typeface="Calibri"/>
              </a:rPr>
              <a:t>Opslaan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Box 29"/>
          <p:cNvSpPr/>
          <p:nvPr/>
        </p:nvSpPr>
        <p:spPr>
          <a:xfrm>
            <a:off x="2377440" y="2505600"/>
            <a:ext cx="1828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464646"/>
                </a:solidFill>
                <a:latin typeface="Calibri"/>
              </a:rPr>
              <a:t>Geselecteerde leerdoelen (max 4)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Rounded Rectangle 30"/>
          <p:cNvSpPr/>
          <p:nvPr/>
        </p:nvSpPr>
        <p:spPr>
          <a:xfrm>
            <a:off x="2377440" y="2651760"/>
            <a:ext cx="1051200" cy="27396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Taal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Rounded Rectangle 31"/>
          <p:cNvSpPr/>
          <p:nvPr/>
        </p:nvSpPr>
        <p:spPr>
          <a:xfrm>
            <a:off x="3529440" y="2651760"/>
            <a:ext cx="1051200" cy="27396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Motoriek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Rounded Rectangle 32"/>
          <p:cNvSpPr/>
          <p:nvPr/>
        </p:nvSpPr>
        <p:spPr>
          <a:xfrm>
            <a:off x="4681800" y="2651760"/>
            <a:ext cx="1051200" cy="27396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Muzisch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Rounded Rectangle 33"/>
          <p:cNvSpPr/>
          <p:nvPr/>
        </p:nvSpPr>
        <p:spPr>
          <a:xfrm>
            <a:off x="5833800" y="2651760"/>
            <a:ext cx="1051200" cy="27396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Sociaal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Rectangle 34"/>
          <p:cNvSpPr/>
          <p:nvPr/>
        </p:nvSpPr>
        <p:spPr>
          <a:xfrm>
            <a:off x="2377440" y="3063240"/>
            <a:ext cx="1416960" cy="38376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20" spc="-1" strike="noStrike">
                <a:solidFill>
                  <a:srgbClr val="232323"/>
                </a:solidFill>
                <a:latin typeface="Calibri"/>
              </a:rPr>
              <a:t>Leerling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Rectangle 35"/>
          <p:cNvSpPr/>
          <p:nvPr/>
        </p:nvSpPr>
        <p:spPr>
          <a:xfrm>
            <a:off x="3794760" y="3063240"/>
            <a:ext cx="1298160" cy="38376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20" spc="-1" strike="noStrike">
                <a:solidFill>
                  <a:srgbClr val="232323"/>
                </a:solidFill>
                <a:latin typeface="Calibri"/>
              </a:rPr>
              <a:t>Taal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Rectangle 36"/>
          <p:cNvSpPr/>
          <p:nvPr/>
        </p:nvSpPr>
        <p:spPr>
          <a:xfrm>
            <a:off x="5093280" y="3063240"/>
            <a:ext cx="1298160" cy="38376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20" spc="-1" strike="noStrike">
                <a:solidFill>
                  <a:srgbClr val="232323"/>
                </a:solidFill>
                <a:latin typeface="Calibri"/>
              </a:rPr>
              <a:t>Motoriek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Rectangle 37"/>
          <p:cNvSpPr/>
          <p:nvPr/>
        </p:nvSpPr>
        <p:spPr>
          <a:xfrm>
            <a:off x="6391800" y="3063240"/>
            <a:ext cx="1298160" cy="38376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20" spc="-1" strike="noStrike">
                <a:solidFill>
                  <a:srgbClr val="232323"/>
                </a:solidFill>
                <a:latin typeface="Calibri"/>
              </a:rPr>
              <a:t>Muzisch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Rectangle 38"/>
          <p:cNvSpPr/>
          <p:nvPr/>
        </p:nvSpPr>
        <p:spPr>
          <a:xfrm>
            <a:off x="7689960" y="3063240"/>
            <a:ext cx="1298160" cy="38376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20" spc="-1" strike="noStrike">
                <a:solidFill>
                  <a:srgbClr val="232323"/>
                </a:solidFill>
                <a:latin typeface="Calibri"/>
              </a:rPr>
              <a:t>Sociaal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Rectangle 39"/>
          <p:cNvSpPr/>
          <p:nvPr/>
        </p:nvSpPr>
        <p:spPr>
          <a:xfrm>
            <a:off x="2377440" y="3447360"/>
            <a:ext cx="14169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Mila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Rectangle 40"/>
          <p:cNvSpPr/>
          <p:nvPr/>
        </p:nvSpPr>
        <p:spPr>
          <a:xfrm>
            <a:off x="3794760" y="344736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Rectangle 41"/>
          <p:cNvSpPr/>
          <p:nvPr/>
        </p:nvSpPr>
        <p:spPr>
          <a:xfrm>
            <a:off x="5093280" y="344736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Rectangle 42"/>
          <p:cNvSpPr/>
          <p:nvPr/>
        </p:nvSpPr>
        <p:spPr>
          <a:xfrm>
            <a:off x="6391800" y="344736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Rectangle 43"/>
          <p:cNvSpPr/>
          <p:nvPr/>
        </p:nvSpPr>
        <p:spPr>
          <a:xfrm>
            <a:off x="7689960" y="344736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Rectangle 44"/>
          <p:cNvSpPr/>
          <p:nvPr/>
        </p:nvSpPr>
        <p:spPr>
          <a:xfrm>
            <a:off x="2377440" y="3858840"/>
            <a:ext cx="14169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Noor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Rectangle 45"/>
          <p:cNvSpPr/>
          <p:nvPr/>
        </p:nvSpPr>
        <p:spPr>
          <a:xfrm>
            <a:off x="3794760" y="385884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Rectangle 46"/>
          <p:cNvSpPr/>
          <p:nvPr/>
        </p:nvSpPr>
        <p:spPr>
          <a:xfrm>
            <a:off x="5093280" y="385884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Rectangle 47"/>
          <p:cNvSpPr/>
          <p:nvPr/>
        </p:nvSpPr>
        <p:spPr>
          <a:xfrm>
            <a:off x="6391800" y="385884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Rectangle 48"/>
          <p:cNvSpPr/>
          <p:nvPr/>
        </p:nvSpPr>
        <p:spPr>
          <a:xfrm>
            <a:off x="7689960" y="385884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Rectangle 49"/>
          <p:cNvSpPr/>
          <p:nvPr/>
        </p:nvSpPr>
        <p:spPr>
          <a:xfrm>
            <a:off x="2377440" y="4270320"/>
            <a:ext cx="14169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Lars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Rectangle 50"/>
          <p:cNvSpPr/>
          <p:nvPr/>
        </p:nvSpPr>
        <p:spPr>
          <a:xfrm>
            <a:off x="3794760" y="427032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Rectangle 51"/>
          <p:cNvSpPr/>
          <p:nvPr/>
        </p:nvSpPr>
        <p:spPr>
          <a:xfrm>
            <a:off x="5093280" y="427032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Rectangle 52"/>
          <p:cNvSpPr/>
          <p:nvPr/>
        </p:nvSpPr>
        <p:spPr>
          <a:xfrm>
            <a:off x="6391800" y="427032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Rectangle 53"/>
          <p:cNvSpPr/>
          <p:nvPr/>
        </p:nvSpPr>
        <p:spPr>
          <a:xfrm>
            <a:off x="7689960" y="427032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Rectangle 54"/>
          <p:cNvSpPr/>
          <p:nvPr/>
        </p:nvSpPr>
        <p:spPr>
          <a:xfrm>
            <a:off x="2377440" y="4681800"/>
            <a:ext cx="14169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Adam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Rectangle 55"/>
          <p:cNvSpPr/>
          <p:nvPr/>
        </p:nvSpPr>
        <p:spPr>
          <a:xfrm>
            <a:off x="3794760" y="468180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Rectangle 56"/>
          <p:cNvSpPr/>
          <p:nvPr/>
        </p:nvSpPr>
        <p:spPr>
          <a:xfrm>
            <a:off x="5093280" y="468180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Rectangle 57"/>
          <p:cNvSpPr/>
          <p:nvPr/>
        </p:nvSpPr>
        <p:spPr>
          <a:xfrm>
            <a:off x="6391800" y="468180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Rectangle 58"/>
          <p:cNvSpPr/>
          <p:nvPr/>
        </p:nvSpPr>
        <p:spPr>
          <a:xfrm>
            <a:off x="7689960" y="468180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Rectangle 59"/>
          <p:cNvSpPr/>
          <p:nvPr/>
        </p:nvSpPr>
        <p:spPr>
          <a:xfrm>
            <a:off x="2377440" y="5093280"/>
            <a:ext cx="14169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Lina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Rectangle 60"/>
          <p:cNvSpPr/>
          <p:nvPr/>
        </p:nvSpPr>
        <p:spPr>
          <a:xfrm>
            <a:off x="3794760" y="509328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Rectangle 61"/>
          <p:cNvSpPr/>
          <p:nvPr/>
        </p:nvSpPr>
        <p:spPr>
          <a:xfrm>
            <a:off x="5093280" y="509328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Rectangle 62"/>
          <p:cNvSpPr/>
          <p:nvPr/>
        </p:nvSpPr>
        <p:spPr>
          <a:xfrm>
            <a:off x="6391800" y="509328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Rectangle 63"/>
          <p:cNvSpPr/>
          <p:nvPr/>
        </p:nvSpPr>
        <p:spPr>
          <a:xfrm>
            <a:off x="7689960" y="509328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Rectangle 64"/>
          <p:cNvSpPr/>
          <p:nvPr/>
        </p:nvSpPr>
        <p:spPr>
          <a:xfrm>
            <a:off x="2377440" y="5504760"/>
            <a:ext cx="14169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Yuna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Rectangle 65"/>
          <p:cNvSpPr/>
          <p:nvPr/>
        </p:nvSpPr>
        <p:spPr>
          <a:xfrm>
            <a:off x="3794760" y="550476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Rectangle 66"/>
          <p:cNvSpPr/>
          <p:nvPr/>
        </p:nvSpPr>
        <p:spPr>
          <a:xfrm>
            <a:off x="5093280" y="550476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Rectangle 67"/>
          <p:cNvSpPr/>
          <p:nvPr/>
        </p:nvSpPr>
        <p:spPr>
          <a:xfrm>
            <a:off x="6391800" y="550476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Rectangle 68"/>
          <p:cNvSpPr/>
          <p:nvPr/>
        </p:nvSpPr>
        <p:spPr>
          <a:xfrm>
            <a:off x="7689960" y="550476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Rectangle 69"/>
          <p:cNvSpPr/>
          <p:nvPr/>
        </p:nvSpPr>
        <p:spPr>
          <a:xfrm>
            <a:off x="2377440" y="5916240"/>
            <a:ext cx="14169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Sam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Rectangle 70"/>
          <p:cNvSpPr/>
          <p:nvPr/>
        </p:nvSpPr>
        <p:spPr>
          <a:xfrm>
            <a:off x="3794760" y="591624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Rectangle 71"/>
          <p:cNvSpPr/>
          <p:nvPr/>
        </p:nvSpPr>
        <p:spPr>
          <a:xfrm>
            <a:off x="5093280" y="591624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Rectangle 72"/>
          <p:cNvSpPr/>
          <p:nvPr/>
        </p:nvSpPr>
        <p:spPr>
          <a:xfrm>
            <a:off x="6391800" y="5916240"/>
            <a:ext cx="12981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Rectangle 73"/>
          <p:cNvSpPr/>
          <p:nvPr/>
        </p:nvSpPr>
        <p:spPr>
          <a:xfrm>
            <a:off x="7689960" y="5916240"/>
            <a:ext cx="1298160" cy="411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○   △   □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Rounded Rectangle 74"/>
          <p:cNvSpPr/>
          <p:nvPr/>
        </p:nvSpPr>
        <p:spPr>
          <a:xfrm>
            <a:off x="9281160" y="2011680"/>
            <a:ext cx="2239920" cy="297144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Box 75"/>
          <p:cNvSpPr/>
          <p:nvPr/>
        </p:nvSpPr>
        <p:spPr>
          <a:xfrm>
            <a:off x="9390960" y="2084760"/>
            <a:ext cx="2020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Cell detail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Box 76"/>
          <p:cNvSpPr/>
          <p:nvPr/>
        </p:nvSpPr>
        <p:spPr>
          <a:xfrm>
            <a:off x="9390960" y="2304360"/>
            <a:ext cx="2020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Leerling: Mila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Box 77"/>
          <p:cNvSpPr/>
          <p:nvPr/>
        </p:nvSpPr>
        <p:spPr>
          <a:xfrm>
            <a:off x="9390960" y="2487240"/>
            <a:ext cx="2020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Taal | status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Rectangle 78"/>
          <p:cNvSpPr/>
          <p:nvPr/>
        </p:nvSpPr>
        <p:spPr>
          <a:xfrm>
            <a:off x="9390960" y="2688480"/>
            <a:ext cx="2020320" cy="548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Commentaarveld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Rounded Rectangle 79"/>
          <p:cNvSpPr/>
          <p:nvPr/>
        </p:nvSpPr>
        <p:spPr>
          <a:xfrm>
            <a:off x="9390960" y="3364920"/>
            <a:ext cx="776880" cy="29232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Flag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Rounded Rectangle 80"/>
          <p:cNvSpPr/>
          <p:nvPr/>
        </p:nvSpPr>
        <p:spPr>
          <a:xfrm>
            <a:off x="10287000" y="3364920"/>
            <a:ext cx="1005480" cy="29232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232323"/>
                </a:solidFill>
                <a:latin typeface="Calibri"/>
              </a:rPr>
              <a:t>Opslaan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Rounded Rectangle 81"/>
          <p:cNvSpPr/>
          <p:nvPr/>
        </p:nvSpPr>
        <p:spPr>
          <a:xfrm>
            <a:off x="9390960" y="3794760"/>
            <a:ext cx="2020320" cy="105120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232323"/>
                </a:solidFill>
                <a:latin typeface="Calibri"/>
              </a:rPr>
              <a:t>Interactie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• </a:t>
            </a: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klik/tik in cel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• </a:t>
            </a: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status kiezen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• </a:t>
            </a: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optioneel commentaar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• </a:t>
            </a: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savestate tonen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Rounded Rectangle 82"/>
          <p:cNvSpPr/>
          <p:nvPr/>
        </p:nvSpPr>
        <p:spPr>
          <a:xfrm>
            <a:off x="9646920" y="1188720"/>
            <a:ext cx="2239920" cy="498312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Box 83"/>
          <p:cNvSpPr/>
          <p:nvPr/>
        </p:nvSpPr>
        <p:spPr>
          <a:xfrm>
            <a:off x="9756720" y="1261800"/>
            <a:ext cx="202032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232323"/>
                </a:solidFill>
                <a:latin typeface="Calibri"/>
              </a:rPr>
              <a:t>ANNOTATIES / BUILD NOTES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Box 84"/>
          <p:cNvSpPr/>
          <p:nvPr/>
        </p:nvSpPr>
        <p:spPr>
          <a:xfrm>
            <a:off x="9756720" y="1472040"/>
            <a:ext cx="202032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464646"/>
                </a:solidFill>
                <a:latin typeface="Calibri"/>
              </a:rPr>
              <a:t>Route: /classes/:classId/observe?mode=theme&amp;theme=:themeId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Box 85"/>
          <p:cNvSpPr/>
          <p:nvPr/>
        </p:nvSpPr>
        <p:spPr>
          <a:xfrm>
            <a:off x="9756720" y="1664280"/>
            <a:ext cx="202032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Doel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Supersnelle observatie-invoer met focus op 1 grid en minimale frictie.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Box 86"/>
          <p:cNvSpPr/>
          <p:nvPr/>
        </p:nvSpPr>
        <p:spPr>
          <a:xfrm>
            <a:off x="9756720" y="2084760"/>
            <a:ext cx="2020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Componenten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Box 87"/>
          <p:cNvSpPr/>
          <p:nvPr/>
        </p:nvSpPr>
        <p:spPr>
          <a:xfrm>
            <a:off x="9793080" y="224928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1. app shell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Box 88"/>
          <p:cNvSpPr/>
          <p:nvPr/>
        </p:nvSpPr>
        <p:spPr>
          <a:xfrm>
            <a:off x="9793080" y="241416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2. contexttoolbar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Box 89"/>
          <p:cNvSpPr/>
          <p:nvPr/>
        </p:nvSpPr>
        <p:spPr>
          <a:xfrm>
            <a:off x="9793080" y="257868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3. goal chips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Box 90"/>
          <p:cNvSpPr/>
          <p:nvPr/>
        </p:nvSpPr>
        <p:spPr>
          <a:xfrm>
            <a:off x="9793080" y="274320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4. observation grid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Box 91"/>
          <p:cNvSpPr/>
          <p:nvPr/>
        </p:nvSpPr>
        <p:spPr>
          <a:xfrm>
            <a:off x="9793080" y="290772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5. cell detail panel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Box 92"/>
          <p:cNvSpPr/>
          <p:nvPr/>
        </p:nvSpPr>
        <p:spPr>
          <a:xfrm>
            <a:off x="9756720" y="3145680"/>
            <a:ext cx="2020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States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Box 93"/>
          <p:cNvSpPr/>
          <p:nvPr/>
        </p:nvSpPr>
        <p:spPr>
          <a:xfrm>
            <a:off x="9793080" y="331020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idle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Box 94"/>
          <p:cNvSpPr/>
          <p:nvPr/>
        </p:nvSpPr>
        <p:spPr>
          <a:xfrm>
            <a:off x="9793080" y="347472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saving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Box 95"/>
          <p:cNvSpPr/>
          <p:nvPr/>
        </p:nvSpPr>
        <p:spPr>
          <a:xfrm>
            <a:off x="9793080" y="363924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save success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Box 96"/>
          <p:cNvSpPr/>
          <p:nvPr/>
        </p:nvSpPr>
        <p:spPr>
          <a:xfrm>
            <a:off x="9793080" y="380376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save error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Box 97"/>
          <p:cNvSpPr/>
          <p:nvPr/>
        </p:nvSpPr>
        <p:spPr>
          <a:xfrm>
            <a:off x="9793080" y="396864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goal not selected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Box 98"/>
          <p:cNvSpPr/>
          <p:nvPr/>
        </p:nvSpPr>
        <p:spPr>
          <a:xfrm>
            <a:off x="9756720" y="4206240"/>
            <a:ext cx="2020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Technische notities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Box 99"/>
          <p:cNvSpPr/>
          <p:nvPr/>
        </p:nvSpPr>
        <p:spPr>
          <a:xfrm>
            <a:off x="9793080" y="437076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zelfde grid als vakmodus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Box 100"/>
          <p:cNvSpPr/>
          <p:nvPr/>
        </p:nvSpPr>
        <p:spPr>
          <a:xfrm>
            <a:off x="9793080" y="4535280"/>
            <a:ext cx="19472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context bepaalt labels/goals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Box 101"/>
          <p:cNvSpPr/>
          <p:nvPr/>
        </p:nvSpPr>
        <p:spPr>
          <a:xfrm>
            <a:off x="9793080" y="4700160"/>
            <a:ext cx="19472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zelfde saveflow voor observatieobject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Rounded Rectangle 102"/>
          <p:cNvSpPr/>
          <p:nvPr/>
        </p:nvSpPr>
        <p:spPr>
          <a:xfrm>
            <a:off x="2423160" y="207576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1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63" name="Connector 103"/>
          <p:cNvCxnSpPr/>
          <p:nvPr/>
        </p:nvCxnSpPr>
        <p:spPr>
          <a:xfrm>
            <a:off x="2537280" y="2189880"/>
            <a:ext cx="7155720" cy="2304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464" name="Rounded Rectangle 104"/>
          <p:cNvSpPr/>
          <p:nvPr/>
        </p:nvSpPr>
        <p:spPr>
          <a:xfrm>
            <a:off x="2514600" y="269748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2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65" name="Connector 105"/>
          <p:cNvCxnSpPr/>
          <p:nvPr/>
        </p:nvCxnSpPr>
        <p:spPr>
          <a:xfrm flipV="1">
            <a:off x="2628720" y="2395440"/>
            <a:ext cx="7064280" cy="41652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466" name="Rounded Rectangle 106"/>
          <p:cNvSpPr/>
          <p:nvPr/>
        </p:nvSpPr>
        <p:spPr>
          <a:xfrm>
            <a:off x="5303520" y="322776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3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67" name="Connector 107"/>
          <p:cNvCxnSpPr/>
          <p:nvPr/>
        </p:nvCxnSpPr>
        <p:spPr>
          <a:xfrm flipV="1">
            <a:off x="5417640" y="2578320"/>
            <a:ext cx="4275360" cy="76392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468" name="Rounded Rectangle 108"/>
          <p:cNvSpPr/>
          <p:nvPr/>
        </p:nvSpPr>
        <p:spPr>
          <a:xfrm>
            <a:off x="4937760" y="448056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4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69" name="Connector 109"/>
          <p:cNvCxnSpPr/>
          <p:nvPr/>
        </p:nvCxnSpPr>
        <p:spPr>
          <a:xfrm flipV="1">
            <a:off x="5051880" y="2761200"/>
            <a:ext cx="4641120" cy="183384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470" name="Rounded Rectangle 110"/>
          <p:cNvSpPr/>
          <p:nvPr/>
        </p:nvSpPr>
        <p:spPr>
          <a:xfrm>
            <a:off x="9354240" y="219456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5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71" name="Connector 111"/>
          <p:cNvCxnSpPr/>
          <p:nvPr/>
        </p:nvCxnSpPr>
        <p:spPr>
          <a:xfrm>
            <a:off x="9468360" y="2308680"/>
            <a:ext cx="224640" cy="63576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Rectangle 1"/>
          <p:cNvSpPr/>
          <p:nvPr/>
        </p:nvSpPr>
        <p:spPr>
          <a:xfrm>
            <a:off x="320040" y="182880"/>
            <a:ext cx="11521080" cy="5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232323"/>
                </a:solidFill>
                <a:latin typeface="Calibri"/>
              </a:rPr>
              <a:t>5. Leerlingdossier – annotated wireframe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Box 2"/>
          <p:cNvSpPr/>
          <p:nvPr/>
        </p:nvSpPr>
        <p:spPr>
          <a:xfrm>
            <a:off x="347400" y="694800"/>
            <a:ext cx="10972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ObsApp-dossier voor oudercontact, samenwerking en PDF-export.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74" name="Connector 3"/>
          <p:cNvCxnSpPr/>
          <p:nvPr/>
        </p:nvCxnSpPr>
        <p:spPr>
          <a:xfrm>
            <a:off x="320040" y="932400"/>
            <a:ext cx="11521800" cy="360"/>
          </a:xfrm>
          <a:prstGeom prst="straightConnector1">
            <a:avLst/>
          </a:prstGeom>
          <a:ln w="15240">
            <a:solidFill>
              <a:srgbClr val="d5d5d5"/>
            </a:solidFill>
            <a:round/>
          </a:ln>
        </p:spPr>
      </p:cxnSp>
      <p:sp>
        <p:nvSpPr>
          <p:cNvPr id="475" name="Rectangle 4"/>
          <p:cNvSpPr/>
          <p:nvPr/>
        </p:nvSpPr>
        <p:spPr>
          <a:xfrm>
            <a:off x="502920" y="1051560"/>
            <a:ext cx="8412120" cy="548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Rectangle 5"/>
          <p:cNvSpPr/>
          <p:nvPr/>
        </p:nvSpPr>
        <p:spPr>
          <a:xfrm>
            <a:off x="502920" y="1051560"/>
            <a:ext cx="8412120" cy="32868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Rounded Rectangle 6"/>
          <p:cNvSpPr/>
          <p:nvPr/>
        </p:nvSpPr>
        <p:spPr>
          <a:xfrm>
            <a:off x="612720" y="114300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Rounded Rectangle 7"/>
          <p:cNvSpPr/>
          <p:nvPr/>
        </p:nvSpPr>
        <p:spPr>
          <a:xfrm>
            <a:off x="777240" y="114300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Rounded Rectangle 8"/>
          <p:cNvSpPr/>
          <p:nvPr/>
        </p:nvSpPr>
        <p:spPr>
          <a:xfrm>
            <a:off x="941760" y="114300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Box 9"/>
          <p:cNvSpPr/>
          <p:nvPr/>
        </p:nvSpPr>
        <p:spPr>
          <a:xfrm>
            <a:off x="1188720" y="1134000"/>
            <a:ext cx="3474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87878"/>
                </a:solidFill>
                <a:latin typeface="Calibri"/>
              </a:rPr>
              <a:t>obsapp.local / app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Rectangle 10"/>
          <p:cNvSpPr/>
          <p:nvPr/>
        </p:nvSpPr>
        <p:spPr>
          <a:xfrm>
            <a:off x="640080" y="1508760"/>
            <a:ext cx="8137800" cy="38376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Box 11"/>
          <p:cNvSpPr/>
          <p:nvPr/>
        </p:nvSpPr>
        <p:spPr>
          <a:xfrm>
            <a:off x="777240" y="1600200"/>
            <a:ext cx="502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ObsApp   |   Leerlingdossier   |   Tenant / schooljaar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Rectangle 12"/>
          <p:cNvSpPr/>
          <p:nvPr/>
        </p:nvSpPr>
        <p:spPr>
          <a:xfrm>
            <a:off x="640080" y="1965960"/>
            <a:ext cx="1691280" cy="443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Rounded Rectangle 13"/>
          <p:cNvSpPr/>
          <p:nvPr/>
        </p:nvSpPr>
        <p:spPr>
          <a:xfrm>
            <a:off x="804600" y="210312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Dashboard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Rounded Rectangle 14"/>
          <p:cNvSpPr/>
          <p:nvPr/>
        </p:nvSpPr>
        <p:spPr>
          <a:xfrm>
            <a:off x="804600" y="25056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Klas kiezen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Rounded Rectangle 15"/>
          <p:cNvSpPr/>
          <p:nvPr/>
        </p:nvSpPr>
        <p:spPr>
          <a:xfrm>
            <a:off x="804600" y="290772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Observaties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Rounded Rectangle 16"/>
          <p:cNvSpPr/>
          <p:nvPr/>
        </p:nvSpPr>
        <p:spPr>
          <a:xfrm>
            <a:off x="804600" y="33102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Matrix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Rounded Rectangle 17"/>
          <p:cNvSpPr/>
          <p:nvPr/>
        </p:nvSpPr>
        <p:spPr>
          <a:xfrm>
            <a:off x="804600" y="371232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Leerlingen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Rounded Rectangle 18"/>
          <p:cNvSpPr/>
          <p:nvPr/>
        </p:nvSpPr>
        <p:spPr>
          <a:xfrm>
            <a:off x="804600" y="41148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Flags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Rounded Rectangle 19"/>
          <p:cNvSpPr/>
          <p:nvPr/>
        </p:nvSpPr>
        <p:spPr>
          <a:xfrm>
            <a:off x="804600" y="451728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Woordenschat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Rounded Rectangle 20"/>
          <p:cNvSpPr/>
          <p:nvPr/>
        </p:nvSpPr>
        <p:spPr>
          <a:xfrm>
            <a:off x="804600" y="49194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Export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Rounded Rectangle 21"/>
          <p:cNvSpPr/>
          <p:nvPr/>
        </p:nvSpPr>
        <p:spPr>
          <a:xfrm>
            <a:off x="804600" y="532188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Instellingen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Rounded Rectangle 22"/>
          <p:cNvSpPr/>
          <p:nvPr/>
        </p:nvSpPr>
        <p:spPr>
          <a:xfrm>
            <a:off x="2468880" y="2039040"/>
            <a:ext cx="713196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Box 23"/>
          <p:cNvSpPr/>
          <p:nvPr/>
        </p:nvSpPr>
        <p:spPr>
          <a:xfrm>
            <a:off x="2578680" y="2112120"/>
            <a:ext cx="6912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Leerling 4 – basisinfo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TextBox 24"/>
          <p:cNvSpPr/>
          <p:nvPr/>
        </p:nvSpPr>
        <p:spPr>
          <a:xfrm>
            <a:off x="2578680" y="2313360"/>
            <a:ext cx="6912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klas • schooljaar • laatste observatie • tags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Rounded Rectangle 25"/>
          <p:cNvSpPr/>
          <p:nvPr/>
        </p:nvSpPr>
        <p:spPr>
          <a:xfrm>
            <a:off x="8275320" y="2203560"/>
            <a:ext cx="1142640" cy="30132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232323"/>
                </a:solidFill>
                <a:latin typeface="Calibri"/>
              </a:rPr>
              <a:t>PDF export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Rounded Rectangle 26"/>
          <p:cNvSpPr/>
          <p:nvPr/>
        </p:nvSpPr>
        <p:spPr>
          <a:xfrm>
            <a:off x="2468880" y="2953440"/>
            <a:ext cx="713196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Box 27"/>
          <p:cNvSpPr/>
          <p:nvPr/>
        </p:nvSpPr>
        <p:spPr>
          <a:xfrm>
            <a:off x="2578680" y="3026520"/>
            <a:ext cx="6912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Nederlands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TextBox 28"/>
          <p:cNvSpPr/>
          <p:nvPr/>
        </p:nvSpPr>
        <p:spPr>
          <a:xfrm>
            <a:off x="2578680" y="3227760"/>
            <a:ext cx="6912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12/05 – status – observatie – auteur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20/05 – status – observatie – auteur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Rounded Rectangle 29"/>
          <p:cNvSpPr/>
          <p:nvPr/>
        </p:nvSpPr>
        <p:spPr>
          <a:xfrm>
            <a:off x="2468880" y="4069080"/>
            <a:ext cx="713196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Box 30"/>
          <p:cNvSpPr/>
          <p:nvPr/>
        </p:nvSpPr>
        <p:spPr>
          <a:xfrm>
            <a:off x="2578680" y="4142160"/>
            <a:ext cx="6912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Wiskunde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Box 31"/>
          <p:cNvSpPr/>
          <p:nvPr/>
        </p:nvSpPr>
        <p:spPr>
          <a:xfrm>
            <a:off x="2578680" y="4343400"/>
            <a:ext cx="6912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18/05 – status – observatie – auteur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27/05 – status – observatie – auteur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Rounded Rectangle 32"/>
          <p:cNvSpPr/>
          <p:nvPr/>
        </p:nvSpPr>
        <p:spPr>
          <a:xfrm>
            <a:off x="2468880" y="5184720"/>
            <a:ext cx="713196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Box 33"/>
          <p:cNvSpPr/>
          <p:nvPr/>
        </p:nvSpPr>
        <p:spPr>
          <a:xfrm>
            <a:off x="2578680" y="5257800"/>
            <a:ext cx="6912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Muzische vorming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TextBox 34"/>
          <p:cNvSpPr/>
          <p:nvPr/>
        </p:nvSpPr>
        <p:spPr>
          <a:xfrm>
            <a:off x="2578680" y="5459040"/>
            <a:ext cx="6912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02/06 – status – observatie – auteur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Rounded Rectangle 35"/>
          <p:cNvSpPr/>
          <p:nvPr/>
        </p:nvSpPr>
        <p:spPr>
          <a:xfrm>
            <a:off x="9098280" y="1188720"/>
            <a:ext cx="2514240" cy="489168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Box 36"/>
          <p:cNvSpPr/>
          <p:nvPr/>
        </p:nvSpPr>
        <p:spPr>
          <a:xfrm>
            <a:off x="9208080" y="1261800"/>
            <a:ext cx="22946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232323"/>
                </a:solidFill>
                <a:latin typeface="Calibri"/>
              </a:rPr>
              <a:t>ANNOTATIES / BUILD NOTES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Box 37"/>
          <p:cNvSpPr/>
          <p:nvPr/>
        </p:nvSpPr>
        <p:spPr>
          <a:xfrm>
            <a:off x="9208080" y="147204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464646"/>
                </a:solidFill>
                <a:latin typeface="Calibri"/>
              </a:rPr>
              <a:t>Route: /students/:studentId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Box 38"/>
          <p:cNvSpPr/>
          <p:nvPr/>
        </p:nvSpPr>
        <p:spPr>
          <a:xfrm>
            <a:off x="9208080" y="1664280"/>
            <a:ext cx="229464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Doel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Geeft een volledig leerlingbeeld, gegroepeerd per vak en klaar voor overleg/export.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Box 39"/>
          <p:cNvSpPr/>
          <p:nvPr/>
        </p:nvSpPr>
        <p:spPr>
          <a:xfrm>
            <a:off x="9208080" y="208476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Componenten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Box 40"/>
          <p:cNvSpPr/>
          <p:nvPr/>
        </p:nvSpPr>
        <p:spPr>
          <a:xfrm>
            <a:off x="9244440" y="224928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1. leerling header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Box 41"/>
          <p:cNvSpPr/>
          <p:nvPr/>
        </p:nvSpPr>
        <p:spPr>
          <a:xfrm>
            <a:off x="9244440" y="241416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2. export CTA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Box 42"/>
          <p:cNvSpPr/>
          <p:nvPr/>
        </p:nvSpPr>
        <p:spPr>
          <a:xfrm>
            <a:off x="9244440" y="257868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3. observatieblokken per vak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TextBox 43"/>
          <p:cNvSpPr/>
          <p:nvPr/>
        </p:nvSpPr>
        <p:spPr>
          <a:xfrm>
            <a:off x="9244440" y="274320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4. chronologische entries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Box 44"/>
          <p:cNvSpPr/>
          <p:nvPr/>
        </p:nvSpPr>
        <p:spPr>
          <a:xfrm>
            <a:off x="9208080" y="298080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States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Box 45"/>
          <p:cNvSpPr/>
          <p:nvPr/>
        </p:nvSpPr>
        <p:spPr>
          <a:xfrm>
            <a:off x="9244440" y="314568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loading dossier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TextBox 46"/>
          <p:cNvSpPr/>
          <p:nvPr/>
        </p:nvSpPr>
        <p:spPr>
          <a:xfrm>
            <a:off x="9244440" y="331020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empty dossier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TextBox 47"/>
          <p:cNvSpPr/>
          <p:nvPr/>
        </p:nvSpPr>
        <p:spPr>
          <a:xfrm>
            <a:off x="9244440" y="347472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has data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Box 48"/>
          <p:cNvSpPr/>
          <p:nvPr/>
        </p:nvSpPr>
        <p:spPr>
          <a:xfrm>
            <a:off x="9244440" y="363924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export queued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Box 49"/>
          <p:cNvSpPr/>
          <p:nvPr/>
        </p:nvSpPr>
        <p:spPr>
          <a:xfrm>
            <a:off x="9244440" y="380376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export ready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Box 50"/>
          <p:cNvSpPr/>
          <p:nvPr/>
        </p:nvSpPr>
        <p:spPr>
          <a:xfrm>
            <a:off x="9208080" y="404172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Technische notities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TextBox 51"/>
          <p:cNvSpPr/>
          <p:nvPr/>
        </p:nvSpPr>
        <p:spPr>
          <a:xfrm>
            <a:off x="9244440" y="420624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best gegroepeerd server-side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TextBox 52"/>
          <p:cNvSpPr/>
          <p:nvPr/>
        </p:nvSpPr>
        <p:spPr>
          <a:xfrm>
            <a:off x="9244440" y="437076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PDF export asynchrone job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Box 53"/>
          <p:cNvSpPr/>
          <p:nvPr/>
        </p:nvSpPr>
        <p:spPr>
          <a:xfrm>
            <a:off x="9244440" y="453528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eventueel filters op periode/vak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Rounded Rectangle 54"/>
          <p:cNvSpPr/>
          <p:nvPr/>
        </p:nvSpPr>
        <p:spPr>
          <a:xfrm>
            <a:off x="2560320" y="211212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1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26" name="Connector 55"/>
          <p:cNvCxnSpPr/>
          <p:nvPr/>
        </p:nvCxnSpPr>
        <p:spPr>
          <a:xfrm flipV="1">
            <a:off x="2674440" y="2148840"/>
            <a:ext cx="6561360" cy="7776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527" name="Rounded Rectangle 56"/>
          <p:cNvSpPr/>
          <p:nvPr/>
        </p:nvSpPr>
        <p:spPr>
          <a:xfrm>
            <a:off x="8458200" y="227700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2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28" name="Connector 57"/>
          <p:cNvCxnSpPr/>
          <p:nvPr/>
        </p:nvCxnSpPr>
        <p:spPr>
          <a:xfrm flipV="1">
            <a:off x="8572320" y="2331720"/>
            <a:ext cx="663480" cy="5976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529" name="Rounded Rectangle 58"/>
          <p:cNvSpPr/>
          <p:nvPr/>
        </p:nvSpPr>
        <p:spPr>
          <a:xfrm>
            <a:off x="2651760" y="329184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3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30" name="Connector 59"/>
          <p:cNvCxnSpPr/>
          <p:nvPr/>
        </p:nvCxnSpPr>
        <p:spPr>
          <a:xfrm flipV="1">
            <a:off x="2765880" y="2514600"/>
            <a:ext cx="6469920" cy="89172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531" name="Rounded Rectangle 60"/>
          <p:cNvSpPr/>
          <p:nvPr/>
        </p:nvSpPr>
        <p:spPr>
          <a:xfrm>
            <a:off x="3474720" y="448056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4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32" name="Connector 61"/>
          <p:cNvCxnSpPr/>
          <p:nvPr/>
        </p:nvCxnSpPr>
        <p:spPr>
          <a:xfrm flipV="1">
            <a:off x="3588840" y="2697480"/>
            <a:ext cx="5646960" cy="189756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Rectangle 1"/>
          <p:cNvSpPr/>
          <p:nvPr/>
        </p:nvSpPr>
        <p:spPr>
          <a:xfrm>
            <a:off x="320040" y="182880"/>
            <a:ext cx="11521080" cy="5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232323"/>
                </a:solidFill>
                <a:latin typeface="Calibri"/>
              </a:rPr>
              <a:t>6. Matrix – annotated wireframe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TextBox 2"/>
          <p:cNvSpPr/>
          <p:nvPr/>
        </p:nvSpPr>
        <p:spPr>
          <a:xfrm>
            <a:off x="347400" y="694800"/>
            <a:ext cx="10972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ObsApp-overzicht op klasniveau om noden en differentiatie snel te detecteren.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35" name="Connector 3"/>
          <p:cNvCxnSpPr/>
          <p:nvPr/>
        </p:nvCxnSpPr>
        <p:spPr>
          <a:xfrm>
            <a:off x="320040" y="932400"/>
            <a:ext cx="11521800" cy="360"/>
          </a:xfrm>
          <a:prstGeom prst="straightConnector1">
            <a:avLst/>
          </a:prstGeom>
          <a:ln w="15240">
            <a:solidFill>
              <a:srgbClr val="d5d5d5"/>
            </a:solidFill>
            <a:round/>
          </a:ln>
        </p:spPr>
      </p:cxnSp>
      <p:sp>
        <p:nvSpPr>
          <p:cNvPr id="536" name="Rectangle 4"/>
          <p:cNvSpPr/>
          <p:nvPr/>
        </p:nvSpPr>
        <p:spPr>
          <a:xfrm>
            <a:off x="502920" y="1051560"/>
            <a:ext cx="8412120" cy="548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Rectangle 5"/>
          <p:cNvSpPr/>
          <p:nvPr/>
        </p:nvSpPr>
        <p:spPr>
          <a:xfrm>
            <a:off x="502920" y="1051560"/>
            <a:ext cx="8412120" cy="32868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Rounded Rectangle 6"/>
          <p:cNvSpPr/>
          <p:nvPr/>
        </p:nvSpPr>
        <p:spPr>
          <a:xfrm>
            <a:off x="612720" y="114300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Rounded Rectangle 7"/>
          <p:cNvSpPr/>
          <p:nvPr/>
        </p:nvSpPr>
        <p:spPr>
          <a:xfrm>
            <a:off x="777240" y="114300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Rounded Rectangle 8"/>
          <p:cNvSpPr/>
          <p:nvPr/>
        </p:nvSpPr>
        <p:spPr>
          <a:xfrm>
            <a:off x="941760" y="114300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Box 9"/>
          <p:cNvSpPr/>
          <p:nvPr/>
        </p:nvSpPr>
        <p:spPr>
          <a:xfrm>
            <a:off x="1188720" y="1134000"/>
            <a:ext cx="3474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87878"/>
                </a:solidFill>
                <a:latin typeface="Calibri"/>
              </a:rPr>
              <a:t>obsapp.local / app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Rectangle 10"/>
          <p:cNvSpPr/>
          <p:nvPr/>
        </p:nvSpPr>
        <p:spPr>
          <a:xfrm>
            <a:off x="640080" y="1508760"/>
            <a:ext cx="8137800" cy="38376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Box 11"/>
          <p:cNvSpPr/>
          <p:nvPr/>
        </p:nvSpPr>
        <p:spPr>
          <a:xfrm>
            <a:off x="777240" y="1600200"/>
            <a:ext cx="502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ObsApp   |   Klasmatrix   |   Tenant / schooljaar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Rectangle 12"/>
          <p:cNvSpPr/>
          <p:nvPr/>
        </p:nvSpPr>
        <p:spPr>
          <a:xfrm>
            <a:off x="640080" y="1965960"/>
            <a:ext cx="1691280" cy="443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Rounded Rectangle 13"/>
          <p:cNvSpPr/>
          <p:nvPr/>
        </p:nvSpPr>
        <p:spPr>
          <a:xfrm>
            <a:off x="804600" y="210312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Dashboard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Rounded Rectangle 14"/>
          <p:cNvSpPr/>
          <p:nvPr/>
        </p:nvSpPr>
        <p:spPr>
          <a:xfrm>
            <a:off x="804600" y="25056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Klas kiezen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Rounded Rectangle 15"/>
          <p:cNvSpPr/>
          <p:nvPr/>
        </p:nvSpPr>
        <p:spPr>
          <a:xfrm>
            <a:off x="804600" y="290772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Observaties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Rounded Rectangle 16"/>
          <p:cNvSpPr/>
          <p:nvPr/>
        </p:nvSpPr>
        <p:spPr>
          <a:xfrm>
            <a:off x="804600" y="33102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Matrix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Rounded Rectangle 17"/>
          <p:cNvSpPr/>
          <p:nvPr/>
        </p:nvSpPr>
        <p:spPr>
          <a:xfrm>
            <a:off x="804600" y="371232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Leerlingen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Rounded Rectangle 18"/>
          <p:cNvSpPr/>
          <p:nvPr/>
        </p:nvSpPr>
        <p:spPr>
          <a:xfrm>
            <a:off x="804600" y="41148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Flags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Rounded Rectangle 19"/>
          <p:cNvSpPr/>
          <p:nvPr/>
        </p:nvSpPr>
        <p:spPr>
          <a:xfrm>
            <a:off x="804600" y="451728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Woordenschat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Rounded Rectangle 20"/>
          <p:cNvSpPr/>
          <p:nvPr/>
        </p:nvSpPr>
        <p:spPr>
          <a:xfrm>
            <a:off x="804600" y="49194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Export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Rounded Rectangle 21"/>
          <p:cNvSpPr/>
          <p:nvPr/>
        </p:nvSpPr>
        <p:spPr>
          <a:xfrm>
            <a:off x="804600" y="532188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Instellingen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TextBox 22"/>
          <p:cNvSpPr/>
          <p:nvPr/>
        </p:nvSpPr>
        <p:spPr>
          <a:xfrm>
            <a:off x="2468880" y="1892880"/>
            <a:ext cx="173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464646"/>
                </a:solidFill>
                <a:latin typeface="Calibri"/>
              </a:rPr>
              <a:t>Filter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Rounded Rectangle 23"/>
          <p:cNvSpPr/>
          <p:nvPr/>
        </p:nvSpPr>
        <p:spPr>
          <a:xfrm>
            <a:off x="2468880" y="2039040"/>
            <a:ext cx="173700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Vak / thema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Box 24"/>
          <p:cNvSpPr/>
          <p:nvPr/>
        </p:nvSpPr>
        <p:spPr>
          <a:xfrm>
            <a:off x="4389120" y="1892880"/>
            <a:ext cx="1965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464646"/>
                </a:solidFill>
                <a:latin typeface="Calibri"/>
              </a:rPr>
              <a:t>Doelen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Rounded Rectangle 25"/>
          <p:cNvSpPr/>
          <p:nvPr/>
        </p:nvSpPr>
        <p:spPr>
          <a:xfrm>
            <a:off x="4389120" y="2039040"/>
            <a:ext cx="196560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subset selecteren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Rounded Rectangle 26"/>
          <p:cNvSpPr/>
          <p:nvPr/>
        </p:nvSpPr>
        <p:spPr>
          <a:xfrm>
            <a:off x="7909560" y="1984320"/>
            <a:ext cx="1691280" cy="58500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TextBox 27"/>
          <p:cNvSpPr/>
          <p:nvPr/>
        </p:nvSpPr>
        <p:spPr>
          <a:xfrm>
            <a:off x="8019360" y="2057400"/>
            <a:ext cx="1471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Legenda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TextBox 28"/>
          <p:cNvSpPr/>
          <p:nvPr/>
        </p:nvSpPr>
        <p:spPr>
          <a:xfrm>
            <a:off x="8019360" y="2258640"/>
            <a:ext cx="14716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licht / midden / donker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Rectangle 29"/>
          <p:cNvSpPr/>
          <p:nvPr/>
        </p:nvSpPr>
        <p:spPr>
          <a:xfrm>
            <a:off x="2468880" y="2770560"/>
            <a:ext cx="1416960" cy="36540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Leerling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Rectangle 30"/>
          <p:cNvSpPr/>
          <p:nvPr/>
        </p:nvSpPr>
        <p:spPr>
          <a:xfrm>
            <a:off x="3886200" y="2770560"/>
            <a:ext cx="639720" cy="36540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D1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Rectangle 31"/>
          <p:cNvSpPr/>
          <p:nvPr/>
        </p:nvSpPr>
        <p:spPr>
          <a:xfrm>
            <a:off x="4526280" y="2770560"/>
            <a:ext cx="639720" cy="36540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D2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Rectangle 32"/>
          <p:cNvSpPr/>
          <p:nvPr/>
        </p:nvSpPr>
        <p:spPr>
          <a:xfrm>
            <a:off x="5166360" y="2770560"/>
            <a:ext cx="639720" cy="36540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D3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Rectangle 33"/>
          <p:cNvSpPr/>
          <p:nvPr/>
        </p:nvSpPr>
        <p:spPr>
          <a:xfrm>
            <a:off x="5806440" y="2770560"/>
            <a:ext cx="639720" cy="36540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D4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Rectangle 34"/>
          <p:cNvSpPr/>
          <p:nvPr/>
        </p:nvSpPr>
        <p:spPr>
          <a:xfrm>
            <a:off x="6446520" y="2770560"/>
            <a:ext cx="639720" cy="36540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D5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Rectangle 35"/>
          <p:cNvSpPr/>
          <p:nvPr/>
        </p:nvSpPr>
        <p:spPr>
          <a:xfrm>
            <a:off x="7086600" y="2770560"/>
            <a:ext cx="639720" cy="36540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D6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Rectangle 36"/>
          <p:cNvSpPr/>
          <p:nvPr/>
        </p:nvSpPr>
        <p:spPr>
          <a:xfrm>
            <a:off x="7726680" y="2770560"/>
            <a:ext cx="639720" cy="36540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D7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Rectangle 37"/>
          <p:cNvSpPr/>
          <p:nvPr/>
        </p:nvSpPr>
        <p:spPr>
          <a:xfrm>
            <a:off x="2468880" y="3136320"/>
            <a:ext cx="141696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Mila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Rectangle 38"/>
          <p:cNvSpPr/>
          <p:nvPr/>
        </p:nvSpPr>
        <p:spPr>
          <a:xfrm>
            <a:off x="3886200" y="3136320"/>
            <a:ext cx="63972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Rectangle 39"/>
          <p:cNvSpPr/>
          <p:nvPr/>
        </p:nvSpPr>
        <p:spPr>
          <a:xfrm>
            <a:off x="4526280" y="3136320"/>
            <a:ext cx="639720" cy="402120"/>
          </a:xfrm>
          <a:prstGeom prst="rect">
            <a:avLst/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Rectangle 40"/>
          <p:cNvSpPr/>
          <p:nvPr/>
        </p:nvSpPr>
        <p:spPr>
          <a:xfrm>
            <a:off x="5166360" y="3136320"/>
            <a:ext cx="639720" cy="402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Rectangle 41"/>
          <p:cNvSpPr/>
          <p:nvPr/>
        </p:nvSpPr>
        <p:spPr>
          <a:xfrm>
            <a:off x="5806440" y="3136320"/>
            <a:ext cx="63972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Rectangle 42"/>
          <p:cNvSpPr/>
          <p:nvPr/>
        </p:nvSpPr>
        <p:spPr>
          <a:xfrm>
            <a:off x="6446520" y="3136320"/>
            <a:ext cx="639720" cy="402120"/>
          </a:xfrm>
          <a:prstGeom prst="rect">
            <a:avLst/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Rectangle 43"/>
          <p:cNvSpPr/>
          <p:nvPr/>
        </p:nvSpPr>
        <p:spPr>
          <a:xfrm>
            <a:off x="7086600" y="3136320"/>
            <a:ext cx="639720" cy="402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Rectangle 44"/>
          <p:cNvSpPr/>
          <p:nvPr/>
        </p:nvSpPr>
        <p:spPr>
          <a:xfrm>
            <a:off x="7726680" y="3136320"/>
            <a:ext cx="63972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Rectangle 45"/>
          <p:cNvSpPr/>
          <p:nvPr/>
        </p:nvSpPr>
        <p:spPr>
          <a:xfrm>
            <a:off x="2468880" y="3538800"/>
            <a:ext cx="141696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Noor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Rectangle 46"/>
          <p:cNvSpPr/>
          <p:nvPr/>
        </p:nvSpPr>
        <p:spPr>
          <a:xfrm>
            <a:off x="3886200" y="3538800"/>
            <a:ext cx="639720" cy="402120"/>
          </a:xfrm>
          <a:prstGeom prst="rect">
            <a:avLst/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Rectangle 47"/>
          <p:cNvSpPr/>
          <p:nvPr/>
        </p:nvSpPr>
        <p:spPr>
          <a:xfrm>
            <a:off x="4526280" y="3538800"/>
            <a:ext cx="639720" cy="402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Rectangle 48"/>
          <p:cNvSpPr/>
          <p:nvPr/>
        </p:nvSpPr>
        <p:spPr>
          <a:xfrm>
            <a:off x="5166360" y="3538800"/>
            <a:ext cx="63972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Rectangle 49"/>
          <p:cNvSpPr/>
          <p:nvPr/>
        </p:nvSpPr>
        <p:spPr>
          <a:xfrm>
            <a:off x="5806440" y="3538800"/>
            <a:ext cx="639720" cy="402120"/>
          </a:xfrm>
          <a:prstGeom prst="rect">
            <a:avLst/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Rectangle 50"/>
          <p:cNvSpPr/>
          <p:nvPr/>
        </p:nvSpPr>
        <p:spPr>
          <a:xfrm>
            <a:off x="6446520" y="3538800"/>
            <a:ext cx="639720" cy="402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Rectangle 51"/>
          <p:cNvSpPr/>
          <p:nvPr/>
        </p:nvSpPr>
        <p:spPr>
          <a:xfrm>
            <a:off x="7086600" y="3538800"/>
            <a:ext cx="63972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Rectangle 52"/>
          <p:cNvSpPr/>
          <p:nvPr/>
        </p:nvSpPr>
        <p:spPr>
          <a:xfrm>
            <a:off x="7726680" y="3538800"/>
            <a:ext cx="639720" cy="402120"/>
          </a:xfrm>
          <a:prstGeom prst="rect">
            <a:avLst/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Rectangle 53"/>
          <p:cNvSpPr/>
          <p:nvPr/>
        </p:nvSpPr>
        <p:spPr>
          <a:xfrm>
            <a:off x="2468880" y="3940920"/>
            <a:ext cx="141696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Lars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Rectangle 54"/>
          <p:cNvSpPr/>
          <p:nvPr/>
        </p:nvSpPr>
        <p:spPr>
          <a:xfrm>
            <a:off x="3886200" y="3940920"/>
            <a:ext cx="639720" cy="402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Rectangle 55"/>
          <p:cNvSpPr/>
          <p:nvPr/>
        </p:nvSpPr>
        <p:spPr>
          <a:xfrm>
            <a:off x="4526280" y="3940920"/>
            <a:ext cx="63972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Rectangle 56"/>
          <p:cNvSpPr/>
          <p:nvPr/>
        </p:nvSpPr>
        <p:spPr>
          <a:xfrm>
            <a:off x="5166360" y="3940920"/>
            <a:ext cx="639720" cy="402120"/>
          </a:xfrm>
          <a:prstGeom prst="rect">
            <a:avLst/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Rectangle 57"/>
          <p:cNvSpPr/>
          <p:nvPr/>
        </p:nvSpPr>
        <p:spPr>
          <a:xfrm>
            <a:off x="5806440" y="3940920"/>
            <a:ext cx="639720" cy="402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Rectangle 58"/>
          <p:cNvSpPr/>
          <p:nvPr/>
        </p:nvSpPr>
        <p:spPr>
          <a:xfrm>
            <a:off x="6446520" y="3940920"/>
            <a:ext cx="63972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Rectangle 59"/>
          <p:cNvSpPr/>
          <p:nvPr/>
        </p:nvSpPr>
        <p:spPr>
          <a:xfrm>
            <a:off x="7086600" y="3940920"/>
            <a:ext cx="639720" cy="402120"/>
          </a:xfrm>
          <a:prstGeom prst="rect">
            <a:avLst/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Rectangle 60"/>
          <p:cNvSpPr/>
          <p:nvPr/>
        </p:nvSpPr>
        <p:spPr>
          <a:xfrm>
            <a:off x="7726680" y="3940920"/>
            <a:ext cx="639720" cy="402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Rectangle 61"/>
          <p:cNvSpPr/>
          <p:nvPr/>
        </p:nvSpPr>
        <p:spPr>
          <a:xfrm>
            <a:off x="2468880" y="4343400"/>
            <a:ext cx="141696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Adam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Rectangle 62"/>
          <p:cNvSpPr/>
          <p:nvPr/>
        </p:nvSpPr>
        <p:spPr>
          <a:xfrm>
            <a:off x="3886200" y="4343400"/>
            <a:ext cx="63972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Rectangle 63"/>
          <p:cNvSpPr/>
          <p:nvPr/>
        </p:nvSpPr>
        <p:spPr>
          <a:xfrm>
            <a:off x="4526280" y="4343400"/>
            <a:ext cx="639720" cy="402120"/>
          </a:xfrm>
          <a:prstGeom prst="rect">
            <a:avLst/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Rectangle 64"/>
          <p:cNvSpPr/>
          <p:nvPr/>
        </p:nvSpPr>
        <p:spPr>
          <a:xfrm>
            <a:off x="5166360" y="4343400"/>
            <a:ext cx="639720" cy="402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Rectangle 65"/>
          <p:cNvSpPr/>
          <p:nvPr/>
        </p:nvSpPr>
        <p:spPr>
          <a:xfrm>
            <a:off x="5806440" y="4343400"/>
            <a:ext cx="63972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Rectangle 66"/>
          <p:cNvSpPr/>
          <p:nvPr/>
        </p:nvSpPr>
        <p:spPr>
          <a:xfrm>
            <a:off x="6446520" y="4343400"/>
            <a:ext cx="639720" cy="402120"/>
          </a:xfrm>
          <a:prstGeom prst="rect">
            <a:avLst/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Rectangle 67"/>
          <p:cNvSpPr/>
          <p:nvPr/>
        </p:nvSpPr>
        <p:spPr>
          <a:xfrm>
            <a:off x="7086600" y="4343400"/>
            <a:ext cx="639720" cy="402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Rectangle 68"/>
          <p:cNvSpPr/>
          <p:nvPr/>
        </p:nvSpPr>
        <p:spPr>
          <a:xfrm>
            <a:off x="7726680" y="4343400"/>
            <a:ext cx="63972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Rectangle 69"/>
          <p:cNvSpPr/>
          <p:nvPr/>
        </p:nvSpPr>
        <p:spPr>
          <a:xfrm>
            <a:off x="2468880" y="4745880"/>
            <a:ext cx="141696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Lina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Rectangle 70"/>
          <p:cNvSpPr/>
          <p:nvPr/>
        </p:nvSpPr>
        <p:spPr>
          <a:xfrm>
            <a:off x="3886200" y="4745880"/>
            <a:ext cx="639720" cy="402120"/>
          </a:xfrm>
          <a:prstGeom prst="rect">
            <a:avLst/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Rectangle 71"/>
          <p:cNvSpPr/>
          <p:nvPr/>
        </p:nvSpPr>
        <p:spPr>
          <a:xfrm>
            <a:off x="4526280" y="4745880"/>
            <a:ext cx="639720" cy="402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Rectangle 72"/>
          <p:cNvSpPr/>
          <p:nvPr/>
        </p:nvSpPr>
        <p:spPr>
          <a:xfrm>
            <a:off x="5166360" y="4745880"/>
            <a:ext cx="63972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Rectangle 73"/>
          <p:cNvSpPr/>
          <p:nvPr/>
        </p:nvSpPr>
        <p:spPr>
          <a:xfrm>
            <a:off x="5806440" y="4745880"/>
            <a:ext cx="639720" cy="402120"/>
          </a:xfrm>
          <a:prstGeom prst="rect">
            <a:avLst/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Rectangle 74"/>
          <p:cNvSpPr/>
          <p:nvPr/>
        </p:nvSpPr>
        <p:spPr>
          <a:xfrm>
            <a:off x="6446520" y="4745880"/>
            <a:ext cx="639720" cy="402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Rectangle 75"/>
          <p:cNvSpPr/>
          <p:nvPr/>
        </p:nvSpPr>
        <p:spPr>
          <a:xfrm>
            <a:off x="7086600" y="4745880"/>
            <a:ext cx="63972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Rectangle 76"/>
          <p:cNvSpPr/>
          <p:nvPr/>
        </p:nvSpPr>
        <p:spPr>
          <a:xfrm>
            <a:off x="7726680" y="4745880"/>
            <a:ext cx="639720" cy="402120"/>
          </a:xfrm>
          <a:prstGeom prst="rect">
            <a:avLst/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Rectangle 77"/>
          <p:cNvSpPr/>
          <p:nvPr/>
        </p:nvSpPr>
        <p:spPr>
          <a:xfrm>
            <a:off x="2468880" y="5148000"/>
            <a:ext cx="141696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Yuna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Rectangle 78"/>
          <p:cNvSpPr/>
          <p:nvPr/>
        </p:nvSpPr>
        <p:spPr>
          <a:xfrm>
            <a:off x="3886200" y="5148000"/>
            <a:ext cx="639720" cy="402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Rectangle 79"/>
          <p:cNvSpPr/>
          <p:nvPr/>
        </p:nvSpPr>
        <p:spPr>
          <a:xfrm>
            <a:off x="4526280" y="5148000"/>
            <a:ext cx="63972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Rectangle 80"/>
          <p:cNvSpPr/>
          <p:nvPr/>
        </p:nvSpPr>
        <p:spPr>
          <a:xfrm>
            <a:off x="5166360" y="5148000"/>
            <a:ext cx="639720" cy="402120"/>
          </a:xfrm>
          <a:prstGeom prst="rect">
            <a:avLst/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Rectangle 81"/>
          <p:cNvSpPr/>
          <p:nvPr/>
        </p:nvSpPr>
        <p:spPr>
          <a:xfrm>
            <a:off x="5806440" y="5148000"/>
            <a:ext cx="639720" cy="402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Rectangle 82"/>
          <p:cNvSpPr/>
          <p:nvPr/>
        </p:nvSpPr>
        <p:spPr>
          <a:xfrm>
            <a:off x="6446520" y="5148000"/>
            <a:ext cx="63972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Rectangle 83"/>
          <p:cNvSpPr/>
          <p:nvPr/>
        </p:nvSpPr>
        <p:spPr>
          <a:xfrm>
            <a:off x="7086600" y="5148000"/>
            <a:ext cx="639720" cy="402120"/>
          </a:xfrm>
          <a:prstGeom prst="rect">
            <a:avLst/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Rectangle 84"/>
          <p:cNvSpPr/>
          <p:nvPr/>
        </p:nvSpPr>
        <p:spPr>
          <a:xfrm>
            <a:off x="7726680" y="5148000"/>
            <a:ext cx="639720" cy="402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Rectangle 85"/>
          <p:cNvSpPr/>
          <p:nvPr/>
        </p:nvSpPr>
        <p:spPr>
          <a:xfrm>
            <a:off x="2468880" y="5550480"/>
            <a:ext cx="141696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20" spc="-1" strike="noStrike">
                <a:solidFill>
                  <a:srgbClr val="232323"/>
                </a:solidFill>
                <a:latin typeface="Calibri"/>
              </a:rPr>
              <a:t>Sam</a:t>
            </a:r>
            <a:endParaRPr b="0" lang="en-GB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Rectangle 86"/>
          <p:cNvSpPr/>
          <p:nvPr/>
        </p:nvSpPr>
        <p:spPr>
          <a:xfrm>
            <a:off x="3886200" y="5550480"/>
            <a:ext cx="63972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Rectangle 87"/>
          <p:cNvSpPr/>
          <p:nvPr/>
        </p:nvSpPr>
        <p:spPr>
          <a:xfrm>
            <a:off x="4526280" y="5550480"/>
            <a:ext cx="639720" cy="402120"/>
          </a:xfrm>
          <a:prstGeom prst="rect">
            <a:avLst/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Rectangle 88"/>
          <p:cNvSpPr/>
          <p:nvPr/>
        </p:nvSpPr>
        <p:spPr>
          <a:xfrm>
            <a:off x="5166360" y="5550480"/>
            <a:ext cx="639720" cy="402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Rectangle 89"/>
          <p:cNvSpPr/>
          <p:nvPr/>
        </p:nvSpPr>
        <p:spPr>
          <a:xfrm>
            <a:off x="5806440" y="5550480"/>
            <a:ext cx="63972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Rectangle 90"/>
          <p:cNvSpPr/>
          <p:nvPr/>
        </p:nvSpPr>
        <p:spPr>
          <a:xfrm>
            <a:off x="6446520" y="5550480"/>
            <a:ext cx="639720" cy="402120"/>
          </a:xfrm>
          <a:prstGeom prst="rect">
            <a:avLst/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Rectangle 91"/>
          <p:cNvSpPr/>
          <p:nvPr/>
        </p:nvSpPr>
        <p:spPr>
          <a:xfrm>
            <a:off x="7086600" y="5550480"/>
            <a:ext cx="639720" cy="402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Rectangle 92"/>
          <p:cNvSpPr/>
          <p:nvPr/>
        </p:nvSpPr>
        <p:spPr>
          <a:xfrm>
            <a:off x="7726680" y="5550480"/>
            <a:ext cx="63972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32323"/>
                </a:solidFill>
                <a:latin typeface="Calibri"/>
              </a:rPr>
              <a:t>■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Rounded Rectangle 93"/>
          <p:cNvSpPr/>
          <p:nvPr/>
        </p:nvSpPr>
        <p:spPr>
          <a:xfrm>
            <a:off x="9098280" y="1188720"/>
            <a:ext cx="2514240" cy="489168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Box 94"/>
          <p:cNvSpPr/>
          <p:nvPr/>
        </p:nvSpPr>
        <p:spPr>
          <a:xfrm>
            <a:off x="9208080" y="1261800"/>
            <a:ext cx="22946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232323"/>
                </a:solidFill>
                <a:latin typeface="Calibri"/>
              </a:rPr>
              <a:t>ANNOTATIES / BUILD NOTES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Box 95"/>
          <p:cNvSpPr/>
          <p:nvPr/>
        </p:nvSpPr>
        <p:spPr>
          <a:xfrm>
            <a:off x="9208080" y="147204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464646"/>
                </a:solidFill>
                <a:latin typeface="Calibri"/>
              </a:rPr>
              <a:t>Route: /classes/:classId/matrix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Box 96"/>
          <p:cNvSpPr/>
          <p:nvPr/>
        </p:nvSpPr>
        <p:spPr>
          <a:xfrm>
            <a:off x="9208080" y="1664280"/>
            <a:ext cx="229464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Doel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Laat patronen zien vóór je naar detail springt; matrix is het overzichtsscherm voor differentiatie.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Box 97"/>
          <p:cNvSpPr/>
          <p:nvPr/>
        </p:nvSpPr>
        <p:spPr>
          <a:xfrm>
            <a:off x="9208080" y="208476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Componenten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Box 98"/>
          <p:cNvSpPr/>
          <p:nvPr/>
        </p:nvSpPr>
        <p:spPr>
          <a:xfrm>
            <a:off x="9244440" y="224928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1. filterbar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Box 99"/>
          <p:cNvSpPr/>
          <p:nvPr/>
        </p:nvSpPr>
        <p:spPr>
          <a:xfrm>
            <a:off x="9244440" y="241416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2. legenda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Box 100"/>
          <p:cNvSpPr/>
          <p:nvPr/>
        </p:nvSpPr>
        <p:spPr>
          <a:xfrm>
            <a:off x="9244440" y="257868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3. matrix grid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Box 101"/>
          <p:cNvSpPr/>
          <p:nvPr/>
        </p:nvSpPr>
        <p:spPr>
          <a:xfrm>
            <a:off x="9244440" y="274320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4. cell drill-down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Box 102"/>
          <p:cNvSpPr/>
          <p:nvPr/>
        </p:nvSpPr>
        <p:spPr>
          <a:xfrm>
            <a:off x="9208080" y="298080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States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Box 103"/>
          <p:cNvSpPr/>
          <p:nvPr/>
        </p:nvSpPr>
        <p:spPr>
          <a:xfrm>
            <a:off x="9244440" y="314568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loading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TextBox 104"/>
          <p:cNvSpPr/>
          <p:nvPr/>
        </p:nvSpPr>
        <p:spPr>
          <a:xfrm>
            <a:off x="9244440" y="331020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filtered matrix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Box 105"/>
          <p:cNvSpPr/>
          <p:nvPr/>
        </p:nvSpPr>
        <p:spPr>
          <a:xfrm>
            <a:off x="9244440" y="347472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dense data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TextBox 106"/>
          <p:cNvSpPr/>
          <p:nvPr/>
        </p:nvSpPr>
        <p:spPr>
          <a:xfrm>
            <a:off x="9244440" y="363924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cell detail open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TextBox 107"/>
          <p:cNvSpPr/>
          <p:nvPr/>
        </p:nvSpPr>
        <p:spPr>
          <a:xfrm>
            <a:off x="9208080" y="387720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Technische notities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TextBox 108"/>
          <p:cNvSpPr/>
          <p:nvPr/>
        </p:nvSpPr>
        <p:spPr>
          <a:xfrm>
            <a:off x="9244440" y="404172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detail kan popover of side panel zijn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TextBox 109"/>
          <p:cNvSpPr/>
          <p:nvPr/>
        </p:nvSpPr>
        <p:spPr>
          <a:xfrm>
            <a:off x="9244440" y="420624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matrixquery moet performant zijn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TextBox 110"/>
          <p:cNvSpPr/>
          <p:nvPr/>
        </p:nvSpPr>
        <p:spPr>
          <a:xfrm>
            <a:off x="9244440" y="437076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goed voor desktop eerst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Rounded Rectangle 111"/>
          <p:cNvSpPr/>
          <p:nvPr/>
        </p:nvSpPr>
        <p:spPr>
          <a:xfrm>
            <a:off x="2541960" y="210312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1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44" name="Connector 112"/>
          <p:cNvCxnSpPr/>
          <p:nvPr/>
        </p:nvCxnSpPr>
        <p:spPr>
          <a:xfrm flipV="1">
            <a:off x="2656080" y="2148840"/>
            <a:ext cx="6579720" cy="6876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645" name="Rounded Rectangle 113"/>
          <p:cNvSpPr/>
          <p:nvPr/>
        </p:nvSpPr>
        <p:spPr>
          <a:xfrm>
            <a:off x="8046720" y="213048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2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46" name="Connector 114"/>
          <p:cNvCxnSpPr/>
          <p:nvPr/>
        </p:nvCxnSpPr>
        <p:spPr>
          <a:xfrm>
            <a:off x="8160840" y="2244600"/>
            <a:ext cx="1074960" cy="8748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647" name="Rounded Rectangle 115"/>
          <p:cNvSpPr/>
          <p:nvPr/>
        </p:nvSpPr>
        <p:spPr>
          <a:xfrm>
            <a:off x="4937760" y="386784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3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48" name="Connector 116"/>
          <p:cNvCxnSpPr/>
          <p:nvPr/>
        </p:nvCxnSpPr>
        <p:spPr>
          <a:xfrm flipV="1">
            <a:off x="5051880" y="2514600"/>
            <a:ext cx="4183920" cy="146772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649" name="Rounded Rectangle 117"/>
          <p:cNvSpPr/>
          <p:nvPr/>
        </p:nvSpPr>
        <p:spPr>
          <a:xfrm>
            <a:off x="7498080" y="478224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4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50" name="Connector 118"/>
          <p:cNvCxnSpPr/>
          <p:nvPr/>
        </p:nvCxnSpPr>
        <p:spPr>
          <a:xfrm flipV="1">
            <a:off x="7612200" y="2697480"/>
            <a:ext cx="1623600" cy="219924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Rectangle 1"/>
          <p:cNvSpPr/>
          <p:nvPr/>
        </p:nvSpPr>
        <p:spPr>
          <a:xfrm>
            <a:off x="320040" y="182880"/>
            <a:ext cx="11521080" cy="5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232323"/>
                </a:solidFill>
                <a:latin typeface="Calibri"/>
              </a:rPr>
              <a:t>7. Aandachtspunten – annotated wireframe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TextBox 2"/>
          <p:cNvSpPr/>
          <p:nvPr/>
        </p:nvSpPr>
        <p:spPr>
          <a:xfrm>
            <a:off x="347400" y="694800"/>
            <a:ext cx="10972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ObsApp-lijst voor centrale opvolging van open flags met snelle filtering en contextsprong.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53" name="Connector 3"/>
          <p:cNvCxnSpPr/>
          <p:nvPr/>
        </p:nvCxnSpPr>
        <p:spPr>
          <a:xfrm>
            <a:off x="320040" y="932400"/>
            <a:ext cx="11521800" cy="360"/>
          </a:xfrm>
          <a:prstGeom prst="straightConnector1">
            <a:avLst/>
          </a:prstGeom>
          <a:ln w="15240">
            <a:solidFill>
              <a:srgbClr val="d5d5d5"/>
            </a:solidFill>
            <a:round/>
          </a:ln>
        </p:spPr>
      </p:cxnSp>
      <p:sp>
        <p:nvSpPr>
          <p:cNvPr id="654" name="Rectangle 4"/>
          <p:cNvSpPr/>
          <p:nvPr/>
        </p:nvSpPr>
        <p:spPr>
          <a:xfrm>
            <a:off x="502920" y="1051560"/>
            <a:ext cx="8412120" cy="548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Rectangle 5"/>
          <p:cNvSpPr/>
          <p:nvPr/>
        </p:nvSpPr>
        <p:spPr>
          <a:xfrm>
            <a:off x="502920" y="1051560"/>
            <a:ext cx="8412120" cy="32868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Rounded Rectangle 6"/>
          <p:cNvSpPr/>
          <p:nvPr/>
        </p:nvSpPr>
        <p:spPr>
          <a:xfrm>
            <a:off x="612720" y="114300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Rounded Rectangle 7"/>
          <p:cNvSpPr/>
          <p:nvPr/>
        </p:nvSpPr>
        <p:spPr>
          <a:xfrm>
            <a:off x="777240" y="114300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Rounded Rectangle 8"/>
          <p:cNvSpPr/>
          <p:nvPr/>
        </p:nvSpPr>
        <p:spPr>
          <a:xfrm>
            <a:off x="941760" y="114300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TextBox 9"/>
          <p:cNvSpPr/>
          <p:nvPr/>
        </p:nvSpPr>
        <p:spPr>
          <a:xfrm>
            <a:off x="1188720" y="1134000"/>
            <a:ext cx="3474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87878"/>
                </a:solidFill>
                <a:latin typeface="Calibri"/>
              </a:rPr>
              <a:t>obsapp.local / app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Rectangle 10"/>
          <p:cNvSpPr/>
          <p:nvPr/>
        </p:nvSpPr>
        <p:spPr>
          <a:xfrm>
            <a:off x="640080" y="1508760"/>
            <a:ext cx="8137800" cy="38376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TextBox 11"/>
          <p:cNvSpPr/>
          <p:nvPr/>
        </p:nvSpPr>
        <p:spPr>
          <a:xfrm>
            <a:off x="777240" y="1600200"/>
            <a:ext cx="502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ObsApp   |   Flags   |   Tenant / schooljaar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Rectangle 12"/>
          <p:cNvSpPr/>
          <p:nvPr/>
        </p:nvSpPr>
        <p:spPr>
          <a:xfrm>
            <a:off x="640080" y="1965960"/>
            <a:ext cx="1691280" cy="443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Rounded Rectangle 13"/>
          <p:cNvSpPr/>
          <p:nvPr/>
        </p:nvSpPr>
        <p:spPr>
          <a:xfrm>
            <a:off x="804600" y="210312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Dashboard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Rounded Rectangle 14"/>
          <p:cNvSpPr/>
          <p:nvPr/>
        </p:nvSpPr>
        <p:spPr>
          <a:xfrm>
            <a:off x="804600" y="25056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Klas kiezen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Rounded Rectangle 15"/>
          <p:cNvSpPr/>
          <p:nvPr/>
        </p:nvSpPr>
        <p:spPr>
          <a:xfrm>
            <a:off x="804600" y="290772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Observaties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Rounded Rectangle 16"/>
          <p:cNvSpPr/>
          <p:nvPr/>
        </p:nvSpPr>
        <p:spPr>
          <a:xfrm>
            <a:off x="804600" y="33102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Matrix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Rounded Rectangle 17"/>
          <p:cNvSpPr/>
          <p:nvPr/>
        </p:nvSpPr>
        <p:spPr>
          <a:xfrm>
            <a:off x="804600" y="371232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Leerlingen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Rounded Rectangle 18"/>
          <p:cNvSpPr/>
          <p:nvPr/>
        </p:nvSpPr>
        <p:spPr>
          <a:xfrm>
            <a:off x="804600" y="41148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Flags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Rounded Rectangle 19"/>
          <p:cNvSpPr/>
          <p:nvPr/>
        </p:nvSpPr>
        <p:spPr>
          <a:xfrm>
            <a:off x="804600" y="451728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Woordenschat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Rounded Rectangle 20"/>
          <p:cNvSpPr/>
          <p:nvPr/>
        </p:nvSpPr>
        <p:spPr>
          <a:xfrm>
            <a:off x="804600" y="49194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Export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Rounded Rectangle 21"/>
          <p:cNvSpPr/>
          <p:nvPr/>
        </p:nvSpPr>
        <p:spPr>
          <a:xfrm>
            <a:off x="804600" y="532188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Instellingen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TextBox 22"/>
          <p:cNvSpPr/>
          <p:nvPr/>
        </p:nvSpPr>
        <p:spPr>
          <a:xfrm>
            <a:off x="2468880" y="1892880"/>
            <a:ext cx="13712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464646"/>
                </a:solidFill>
                <a:latin typeface="Calibri"/>
              </a:rPr>
              <a:t>Leerling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Rounded Rectangle 23"/>
          <p:cNvSpPr/>
          <p:nvPr/>
        </p:nvSpPr>
        <p:spPr>
          <a:xfrm>
            <a:off x="2468880" y="2039040"/>
            <a:ext cx="137124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filter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Box 24"/>
          <p:cNvSpPr/>
          <p:nvPr/>
        </p:nvSpPr>
        <p:spPr>
          <a:xfrm>
            <a:off x="4023360" y="1892880"/>
            <a:ext cx="13712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464646"/>
                </a:solidFill>
                <a:latin typeface="Calibri"/>
              </a:rPr>
              <a:t>Klas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Rounded Rectangle 25"/>
          <p:cNvSpPr/>
          <p:nvPr/>
        </p:nvSpPr>
        <p:spPr>
          <a:xfrm>
            <a:off x="4023360" y="2039040"/>
            <a:ext cx="137124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filter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TextBox 26"/>
          <p:cNvSpPr/>
          <p:nvPr/>
        </p:nvSpPr>
        <p:spPr>
          <a:xfrm>
            <a:off x="5577840" y="1892880"/>
            <a:ext cx="1645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464646"/>
                </a:solidFill>
                <a:latin typeface="Calibri"/>
              </a:rPr>
              <a:t>Status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Rounded Rectangle 27"/>
          <p:cNvSpPr/>
          <p:nvPr/>
        </p:nvSpPr>
        <p:spPr>
          <a:xfrm>
            <a:off x="5577840" y="2039040"/>
            <a:ext cx="164556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open / gesloten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Rounded Rectangle 28"/>
          <p:cNvSpPr/>
          <p:nvPr/>
        </p:nvSpPr>
        <p:spPr>
          <a:xfrm>
            <a:off x="2468880" y="2679120"/>
            <a:ext cx="713196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TextBox 29"/>
          <p:cNvSpPr/>
          <p:nvPr/>
        </p:nvSpPr>
        <p:spPr>
          <a:xfrm>
            <a:off x="2578680" y="2752200"/>
            <a:ext cx="6912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Flag 1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TextBox 30"/>
          <p:cNvSpPr/>
          <p:nvPr/>
        </p:nvSpPr>
        <p:spPr>
          <a:xfrm>
            <a:off x="2578680" y="2953440"/>
            <a:ext cx="6912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leerling • doel/vak • samenvatting • bronobservatie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Rounded Rectangle 31"/>
          <p:cNvSpPr/>
          <p:nvPr/>
        </p:nvSpPr>
        <p:spPr>
          <a:xfrm>
            <a:off x="8275320" y="2843640"/>
            <a:ext cx="548280" cy="25560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Open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Rounded Rectangle 32"/>
          <p:cNvSpPr/>
          <p:nvPr/>
        </p:nvSpPr>
        <p:spPr>
          <a:xfrm>
            <a:off x="8915400" y="2843640"/>
            <a:ext cx="548280" cy="25560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232323"/>
                </a:solidFill>
                <a:latin typeface="Calibri"/>
              </a:rPr>
              <a:t>Bekijk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Rounded Rectangle 33"/>
          <p:cNvSpPr/>
          <p:nvPr/>
        </p:nvSpPr>
        <p:spPr>
          <a:xfrm>
            <a:off x="2468880" y="3447360"/>
            <a:ext cx="713196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TextBox 34"/>
          <p:cNvSpPr/>
          <p:nvPr/>
        </p:nvSpPr>
        <p:spPr>
          <a:xfrm>
            <a:off x="2578680" y="3520440"/>
            <a:ext cx="6912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Flag 2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TextBox 35"/>
          <p:cNvSpPr/>
          <p:nvPr/>
        </p:nvSpPr>
        <p:spPr>
          <a:xfrm>
            <a:off x="2578680" y="3721680"/>
            <a:ext cx="6912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leerling • doel/vak • samenvatting • bronobservatie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Rounded Rectangle 36"/>
          <p:cNvSpPr/>
          <p:nvPr/>
        </p:nvSpPr>
        <p:spPr>
          <a:xfrm>
            <a:off x="8275320" y="3611880"/>
            <a:ext cx="548280" cy="25560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Open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Rounded Rectangle 37"/>
          <p:cNvSpPr/>
          <p:nvPr/>
        </p:nvSpPr>
        <p:spPr>
          <a:xfrm>
            <a:off x="8915400" y="3611880"/>
            <a:ext cx="548280" cy="25560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232323"/>
                </a:solidFill>
                <a:latin typeface="Calibri"/>
              </a:rPr>
              <a:t>Bekijk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Rounded Rectangle 38"/>
          <p:cNvSpPr/>
          <p:nvPr/>
        </p:nvSpPr>
        <p:spPr>
          <a:xfrm>
            <a:off x="2468880" y="4215240"/>
            <a:ext cx="713196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TextBox 39"/>
          <p:cNvSpPr/>
          <p:nvPr/>
        </p:nvSpPr>
        <p:spPr>
          <a:xfrm>
            <a:off x="2578680" y="4288680"/>
            <a:ext cx="6912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Flag 3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TextBox 40"/>
          <p:cNvSpPr/>
          <p:nvPr/>
        </p:nvSpPr>
        <p:spPr>
          <a:xfrm>
            <a:off x="2578680" y="4489560"/>
            <a:ext cx="6912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leerling • doel/vak • samenvatting • bronobservatie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Rounded Rectangle 41"/>
          <p:cNvSpPr/>
          <p:nvPr/>
        </p:nvSpPr>
        <p:spPr>
          <a:xfrm>
            <a:off x="8275320" y="4380120"/>
            <a:ext cx="548280" cy="25560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Open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Rounded Rectangle 42"/>
          <p:cNvSpPr/>
          <p:nvPr/>
        </p:nvSpPr>
        <p:spPr>
          <a:xfrm>
            <a:off x="8915400" y="4380120"/>
            <a:ext cx="548280" cy="25560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232323"/>
                </a:solidFill>
                <a:latin typeface="Calibri"/>
              </a:rPr>
              <a:t>Bekijk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Rounded Rectangle 43"/>
          <p:cNvSpPr/>
          <p:nvPr/>
        </p:nvSpPr>
        <p:spPr>
          <a:xfrm>
            <a:off x="2468880" y="4983480"/>
            <a:ext cx="713196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TextBox 44"/>
          <p:cNvSpPr/>
          <p:nvPr/>
        </p:nvSpPr>
        <p:spPr>
          <a:xfrm>
            <a:off x="2578680" y="5056560"/>
            <a:ext cx="6912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Flag 4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TextBox 45"/>
          <p:cNvSpPr/>
          <p:nvPr/>
        </p:nvSpPr>
        <p:spPr>
          <a:xfrm>
            <a:off x="2578680" y="5257800"/>
            <a:ext cx="6912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leerling • doel/vak • samenvatting • bronobservatie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Rounded Rectangle 46"/>
          <p:cNvSpPr/>
          <p:nvPr/>
        </p:nvSpPr>
        <p:spPr>
          <a:xfrm>
            <a:off x="8275320" y="5148000"/>
            <a:ext cx="548280" cy="25560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Open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Rounded Rectangle 47"/>
          <p:cNvSpPr/>
          <p:nvPr/>
        </p:nvSpPr>
        <p:spPr>
          <a:xfrm>
            <a:off x="8915400" y="5148000"/>
            <a:ext cx="548280" cy="25560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232323"/>
                </a:solidFill>
                <a:latin typeface="Calibri"/>
              </a:rPr>
              <a:t>Bekijk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Rounded Rectangle 48"/>
          <p:cNvSpPr/>
          <p:nvPr/>
        </p:nvSpPr>
        <p:spPr>
          <a:xfrm>
            <a:off x="2468880" y="5751720"/>
            <a:ext cx="713196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TextBox 49"/>
          <p:cNvSpPr/>
          <p:nvPr/>
        </p:nvSpPr>
        <p:spPr>
          <a:xfrm>
            <a:off x="2578680" y="5824800"/>
            <a:ext cx="6912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Flag 5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TextBox 50"/>
          <p:cNvSpPr/>
          <p:nvPr/>
        </p:nvSpPr>
        <p:spPr>
          <a:xfrm>
            <a:off x="2578680" y="6026040"/>
            <a:ext cx="6912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leerling • doel/vak • samenvatting • bronobservatie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Rounded Rectangle 51"/>
          <p:cNvSpPr/>
          <p:nvPr/>
        </p:nvSpPr>
        <p:spPr>
          <a:xfrm>
            <a:off x="8275320" y="5916240"/>
            <a:ext cx="548280" cy="25560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Open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Rounded Rectangle 52"/>
          <p:cNvSpPr/>
          <p:nvPr/>
        </p:nvSpPr>
        <p:spPr>
          <a:xfrm>
            <a:off x="8915400" y="5916240"/>
            <a:ext cx="548280" cy="25560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232323"/>
                </a:solidFill>
                <a:latin typeface="Calibri"/>
              </a:rPr>
              <a:t>Bekijk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Rounded Rectangle 53"/>
          <p:cNvSpPr/>
          <p:nvPr/>
        </p:nvSpPr>
        <p:spPr>
          <a:xfrm>
            <a:off x="9098280" y="1188720"/>
            <a:ext cx="2514240" cy="489168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TextBox 54"/>
          <p:cNvSpPr/>
          <p:nvPr/>
        </p:nvSpPr>
        <p:spPr>
          <a:xfrm>
            <a:off x="9208080" y="1261800"/>
            <a:ext cx="22946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232323"/>
                </a:solidFill>
                <a:latin typeface="Calibri"/>
              </a:rPr>
              <a:t>ANNOTATIES / BUILD NOTES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TextBox 55"/>
          <p:cNvSpPr/>
          <p:nvPr/>
        </p:nvSpPr>
        <p:spPr>
          <a:xfrm>
            <a:off x="9208080" y="147204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464646"/>
                </a:solidFill>
                <a:latin typeface="Calibri"/>
              </a:rPr>
              <a:t>Route: /flags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TextBox 56"/>
          <p:cNvSpPr/>
          <p:nvPr/>
        </p:nvSpPr>
        <p:spPr>
          <a:xfrm>
            <a:off x="9208080" y="1664280"/>
            <a:ext cx="229464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Doel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Biedt één plaats om zorgen op te volgen zonder telkens door dossiers te moeten navigeren.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TextBox 57"/>
          <p:cNvSpPr/>
          <p:nvPr/>
        </p:nvSpPr>
        <p:spPr>
          <a:xfrm>
            <a:off x="9208080" y="208476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Componenten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TextBox 58"/>
          <p:cNvSpPr/>
          <p:nvPr/>
        </p:nvSpPr>
        <p:spPr>
          <a:xfrm>
            <a:off x="9244440" y="224928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1. filterbar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TextBox 59"/>
          <p:cNvSpPr/>
          <p:nvPr/>
        </p:nvSpPr>
        <p:spPr>
          <a:xfrm>
            <a:off x="9244440" y="241416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2. flag list items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TextBox 60"/>
          <p:cNvSpPr/>
          <p:nvPr/>
        </p:nvSpPr>
        <p:spPr>
          <a:xfrm>
            <a:off x="9244440" y="257868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3. open badge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TextBox 61"/>
          <p:cNvSpPr/>
          <p:nvPr/>
        </p:nvSpPr>
        <p:spPr>
          <a:xfrm>
            <a:off x="9244440" y="274320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4. bekijk actie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TextBox 62"/>
          <p:cNvSpPr/>
          <p:nvPr/>
        </p:nvSpPr>
        <p:spPr>
          <a:xfrm>
            <a:off x="9208080" y="298080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States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TextBox 63"/>
          <p:cNvSpPr/>
          <p:nvPr/>
        </p:nvSpPr>
        <p:spPr>
          <a:xfrm>
            <a:off x="9244440" y="314568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empty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TextBox 64"/>
          <p:cNvSpPr/>
          <p:nvPr/>
        </p:nvSpPr>
        <p:spPr>
          <a:xfrm>
            <a:off x="9244440" y="331020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open flags loaded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TextBox 65"/>
          <p:cNvSpPr/>
          <p:nvPr/>
        </p:nvSpPr>
        <p:spPr>
          <a:xfrm>
            <a:off x="9244440" y="347472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filtered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TextBox 66"/>
          <p:cNvSpPr/>
          <p:nvPr/>
        </p:nvSpPr>
        <p:spPr>
          <a:xfrm>
            <a:off x="9244440" y="363924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resolved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TextBox 67"/>
          <p:cNvSpPr/>
          <p:nvPr/>
        </p:nvSpPr>
        <p:spPr>
          <a:xfrm>
            <a:off x="9208080" y="387720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Technische notities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TextBox 68"/>
          <p:cNvSpPr/>
          <p:nvPr/>
        </p:nvSpPr>
        <p:spPr>
          <a:xfrm>
            <a:off x="9244440" y="4041720"/>
            <a:ext cx="22215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list items linken naar bronobservatie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TextBox 69"/>
          <p:cNvSpPr/>
          <p:nvPr/>
        </p:nvSpPr>
        <p:spPr>
          <a:xfrm>
            <a:off x="9244440" y="4206240"/>
            <a:ext cx="22215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afhandeling kan inline of detail-based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Rounded Rectangle 70"/>
          <p:cNvSpPr/>
          <p:nvPr/>
        </p:nvSpPr>
        <p:spPr>
          <a:xfrm>
            <a:off x="2514600" y="210312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1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21" name="Connector 71"/>
          <p:cNvCxnSpPr/>
          <p:nvPr/>
        </p:nvCxnSpPr>
        <p:spPr>
          <a:xfrm flipV="1">
            <a:off x="2628720" y="2148840"/>
            <a:ext cx="6607080" cy="6876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722" name="Rounded Rectangle 72"/>
          <p:cNvSpPr/>
          <p:nvPr/>
        </p:nvSpPr>
        <p:spPr>
          <a:xfrm>
            <a:off x="3474720" y="292608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2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23" name="Connector 73"/>
          <p:cNvCxnSpPr/>
          <p:nvPr/>
        </p:nvCxnSpPr>
        <p:spPr>
          <a:xfrm flipV="1">
            <a:off x="3588840" y="2331720"/>
            <a:ext cx="5646960" cy="70884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724" name="Rounded Rectangle 74"/>
          <p:cNvSpPr/>
          <p:nvPr/>
        </p:nvSpPr>
        <p:spPr>
          <a:xfrm>
            <a:off x="8366760" y="295344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3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25" name="Connector 75"/>
          <p:cNvCxnSpPr/>
          <p:nvPr/>
        </p:nvCxnSpPr>
        <p:spPr>
          <a:xfrm flipV="1">
            <a:off x="8480880" y="2514600"/>
            <a:ext cx="754920" cy="55332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726" name="Rounded Rectangle 76"/>
          <p:cNvSpPr/>
          <p:nvPr/>
        </p:nvSpPr>
        <p:spPr>
          <a:xfrm>
            <a:off x="9034200" y="295344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4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27" name="Connector 77"/>
          <p:cNvCxnSpPr/>
          <p:nvPr/>
        </p:nvCxnSpPr>
        <p:spPr>
          <a:xfrm flipV="1">
            <a:off x="9148320" y="2697480"/>
            <a:ext cx="87480" cy="37044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Rectangle 1"/>
          <p:cNvSpPr/>
          <p:nvPr/>
        </p:nvSpPr>
        <p:spPr>
          <a:xfrm>
            <a:off x="320040" y="182880"/>
            <a:ext cx="11521080" cy="5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232323"/>
                </a:solidFill>
                <a:latin typeface="Calibri"/>
              </a:rPr>
              <a:t>8. Woordenschat – annotated wireframe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TextBox 2"/>
          <p:cNvSpPr/>
          <p:nvPr/>
        </p:nvSpPr>
        <p:spPr>
          <a:xfrm>
            <a:off x="347400" y="694800"/>
            <a:ext cx="10972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ObsApp-bibliotheek met filters, markering “aangebracht” en voortgangsindicatie per klas.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30" name="Connector 3"/>
          <p:cNvCxnSpPr/>
          <p:nvPr/>
        </p:nvCxnSpPr>
        <p:spPr>
          <a:xfrm>
            <a:off x="320040" y="932400"/>
            <a:ext cx="11521800" cy="360"/>
          </a:xfrm>
          <a:prstGeom prst="straightConnector1">
            <a:avLst/>
          </a:prstGeom>
          <a:ln w="15240">
            <a:solidFill>
              <a:srgbClr val="d5d5d5"/>
            </a:solidFill>
            <a:round/>
          </a:ln>
        </p:spPr>
      </p:cxnSp>
      <p:sp>
        <p:nvSpPr>
          <p:cNvPr id="731" name="Rectangle 4"/>
          <p:cNvSpPr/>
          <p:nvPr/>
        </p:nvSpPr>
        <p:spPr>
          <a:xfrm>
            <a:off x="502920" y="1051560"/>
            <a:ext cx="8412120" cy="548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Rectangle 5"/>
          <p:cNvSpPr/>
          <p:nvPr/>
        </p:nvSpPr>
        <p:spPr>
          <a:xfrm>
            <a:off x="502920" y="1051560"/>
            <a:ext cx="8412120" cy="32868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Rounded Rectangle 6"/>
          <p:cNvSpPr/>
          <p:nvPr/>
        </p:nvSpPr>
        <p:spPr>
          <a:xfrm>
            <a:off x="612720" y="114300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Rounded Rectangle 7"/>
          <p:cNvSpPr/>
          <p:nvPr/>
        </p:nvSpPr>
        <p:spPr>
          <a:xfrm>
            <a:off x="777240" y="114300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Rounded Rectangle 8"/>
          <p:cNvSpPr/>
          <p:nvPr/>
        </p:nvSpPr>
        <p:spPr>
          <a:xfrm>
            <a:off x="941760" y="114300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TextBox 9"/>
          <p:cNvSpPr/>
          <p:nvPr/>
        </p:nvSpPr>
        <p:spPr>
          <a:xfrm>
            <a:off x="1188720" y="1134000"/>
            <a:ext cx="3474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87878"/>
                </a:solidFill>
                <a:latin typeface="Calibri"/>
              </a:rPr>
              <a:t>obsapp.local / app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Rectangle 10"/>
          <p:cNvSpPr/>
          <p:nvPr/>
        </p:nvSpPr>
        <p:spPr>
          <a:xfrm>
            <a:off x="640080" y="1508760"/>
            <a:ext cx="8137800" cy="38376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TextBox 11"/>
          <p:cNvSpPr/>
          <p:nvPr/>
        </p:nvSpPr>
        <p:spPr>
          <a:xfrm>
            <a:off x="777240" y="1600200"/>
            <a:ext cx="502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ObsApp   |   Woordenschat   |   Tenant / schooljaar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Rectangle 12"/>
          <p:cNvSpPr/>
          <p:nvPr/>
        </p:nvSpPr>
        <p:spPr>
          <a:xfrm>
            <a:off x="640080" y="1965960"/>
            <a:ext cx="1691280" cy="443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Rounded Rectangle 13"/>
          <p:cNvSpPr/>
          <p:nvPr/>
        </p:nvSpPr>
        <p:spPr>
          <a:xfrm>
            <a:off x="804600" y="210312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Dashboard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Rounded Rectangle 14"/>
          <p:cNvSpPr/>
          <p:nvPr/>
        </p:nvSpPr>
        <p:spPr>
          <a:xfrm>
            <a:off x="804600" y="25056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Klas kiezen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Rounded Rectangle 15"/>
          <p:cNvSpPr/>
          <p:nvPr/>
        </p:nvSpPr>
        <p:spPr>
          <a:xfrm>
            <a:off x="804600" y="290772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Observaties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Rounded Rectangle 16"/>
          <p:cNvSpPr/>
          <p:nvPr/>
        </p:nvSpPr>
        <p:spPr>
          <a:xfrm>
            <a:off x="804600" y="33102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Matrix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Rounded Rectangle 17"/>
          <p:cNvSpPr/>
          <p:nvPr/>
        </p:nvSpPr>
        <p:spPr>
          <a:xfrm>
            <a:off x="804600" y="371232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Leerlingen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Rounded Rectangle 18"/>
          <p:cNvSpPr/>
          <p:nvPr/>
        </p:nvSpPr>
        <p:spPr>
          <a:xfrm>
            <a:off x="804600" y="41148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Flags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Rounded Rectangle 19"/>
          <p:cNvSpPr/>
          <p:nvPr/>
        </p:nvSpPr>
        <p:spPr>
          <a:xfrm>
            <a:off x="804600" y="451728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Woordenschat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Rounded Rectangle 20"/>
          <p:cNvSpPr/>
          <p:nvPr/>
        </p:nvSpPr>
        <p:spPr>
          <a:xfrm>
            <a:off x="804600" y="49194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Export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Rounded Rectangle 21"/>
          <p:cNvSpPr/>
          <p:nvPr/>
        </p:nvSpPr>
        <p:spPr>
          <a:xfrm>
            <a:off x="804600" y="532188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Instellingen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TextBox 22"/>
          <p:cNvSpPr/>
          <p:nvPr/>
        </p:nvSpPr>
        <p:spPr>
          <a:xfrm>
            <a:off x="2468880" y="1892880"/>
            <a:ext cx="14626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464646"/>
                </a:solidFill>
                <a:latin typeface="Calibri"/>
              </a:rPr>
              <a:t>Vak / domein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Rounded Rectangle 23"/>
          <p:cNvSpPr/>
          <p:nvPr/>
        </p:nvSpPr>
        <p:spPr>
          <a:xfrm>
            <a:off x="2468880" y="2039040"/>
            <a:ext cx="146268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taal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TextBox 24"/>
          <p:cNvSpPr/>
          <p:nvPr/>
        </p:nvSpPr>
        <p:spPr>
          <a:xfrm>
            <a:off x="4114800" y="1892880"/>
            <a:ext cx="1279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464646"/>
                </a:solidFill>
                <a:latin typeface="Calibri"/>
              </a:rPr>
              <a:t>Leeftijd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Rounded Rectangle 25"/>
          <p:cNvSpPr/>
          <p:nvPr/>
        </p:nvSpPr>
        <p:spPr>
          <a:xfrm>
            <a:off x="4114800" y="2039040"/>
            <a:ext cx="127980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K2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TextBox 26"/>
          <p:cNvSpPr/>
          <p:nvPr/>
        </p:nvSpPr>
        <p:spPr>
          <a:xfrm>
            <a:off x="5577840" y="1892880"/>
            <a:ext cx="1645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464646"/>
                </a:solidFill>
                <a:latin typeface="Calibri"/>
              </a:rPr>
              <a:t>Zoek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Rounded Rectangle 27"/>
          <p:cNvSpPr/>
          <p:nvPr/>
        </p:nvSpPr>
        <p:spPr>
          <a:xfrm>
            <a:off x="5577840" y="2039040"/>
            <a:ext cx="164556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begrip…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Rounded Rectangle 28"/>
          <p:cNvSpPr/>
          <p:nvPr/>
        </p:nvSpPr>
        <p:spPr>
          <a:xfrm>
            <a:off x="7635240" y="1984320"/>
            <a:ext cx="1965600" cy="58500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TextBox 29"/>
          <p:cNvSpPr/>
          <p:nvPr/>
        </p:nvSpPr>
        <p:spPr>
          <a:xfrm>
            <a:off x="7745040" y="2057400"/>
            <a:ext cx="17460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Voortgang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TextBox 30"/>
          <p:cNvSpPr/>
          <p:nvPr/>
        </p:nvSpPr>
        <p:spPr>
          <a:xfrm>
            <a:off x="7745040" y="2258640"/>
            <a:ext cx="1746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126 / 600 aangeboden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Rounded Rectangle 31"/>
          <p:cNvSpPr/>
          <p:nvPr/>
        </p:nvSpPr>
        <p:spPr>
          <a:xfrm>
            <a:off x="2468880" y="2679120"/>
            <a:ext cx="5714640" cy="51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TextBox 32"/>
          <p:cNvSpPr/>
          <p:nvPr/>
        </p:nvSpPr>
        <p:spPr>
          <a:xfrm>
            <a:off x="2578680" y="2752200"/>
            <a:ext cx="5495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Begrip 1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TextBox 33"/>
          <p:cNvSpPr/>
          <p:nvPr/>
        </p:nvSpPr>
        <p:spPr>
          <a:xfrm>
            <a:off x="2578680" y="2953440"/>
            <a:ext cx="5495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korte omschrijving of context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Rounded Rectangle 34"/>
          <p:cNvSpPr/>
          <p:nvPr/>
        </p:nvSpPr>
        <p:spPr>
          <a:xfrm>
            <a:off x="8366760" y="278892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232323"/>
                </a:solidFill>
                <a:latin typeface="Calibri"/>
              </a:rPr>
              <a:t>Aangeboden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Rounded Rectangle 35"/>
          <p:cNvSpPr/>
          <p:nvPr/>
        </p:nvSpPr>
        <p:spPr>
          <a:xfrm>
            <a:off x="2468880" y="3282840"/>
            <a:ext cx="5714640" cy="51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TextBox 36"/>
          <p:cNvSpPr/>
          <p:nvPr/>
        </p:nvSpPr>
        <p:spPr>
          <a:xfrm>
            <a:off x="2578680" y="3355920"/>
            <a:ext cx="5495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Begrip 2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TextBox 37"/>
          <p:cNvSpPr/>
          <p:nvPr/>
        </p:nvSpPr>
        <p:spPr>
          <a:xfrm>
            <a:off x="2578680" y="3557160"/>
            <a:ext cx="5495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korte omschrijving of context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Rounded Rectangle 38"/>
          <p:cNvSpPr/>
          <p:nvPr/>
        </p:nvSpPr>
        <p:spPr>
          <a:xfrm>
            <a:off x="8366760" y="339228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Aangeboden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Rounded Rectangle 39"/>
          <p:cNvSpPr/>
          <p:nvPr/>
        </p:nvSpPr>
        <p:spPr>
          <a:xfrm>
            <a:off x="2468880" y="3886200"/>
            <a:ext cx="5714640" cy="51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TextBox 40"/>
          <p:cNvSpPr/>
          <p:nvPr/>
        </p:nvSpPr>
        <p:spPr>
          <a:xfrm>
            <a:off x="2578680" y="3959280"/>
            <a:ext cx="5495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Begrip 3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TextBox 41"/>
          <p:cNvSpPr/>
          <p:nvPr/>
        </p:nvSpPr>
        <p:spPr>
          <a:xfrm>
            <a:off x="2578680" y="4160520"/>
            <a:ext cx="5495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korte omschrijving of context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Rounded Rectangle 42"/>
          <p:cNvSpPr/>
          <p:nvPr/>
        </p:nvSpPr>
        <p:spPr>
          <a:xfrm>
            <a:off x="8366760" y="399600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232323"/>
                </a:solidFill>
                <a:latin typeface="Calibri"/>
              </a:rPr>
              <a:t>Aangeboden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Rounded Rectangle 43"/>
          <p:cNvSpPr/>
          <p:nvPr/>
        </p:nvSpPr>
        <p:spPr>
          <a:xfrm>
            <a:off x="2468880" y="4489560"/>
            <a:ext cx="5714640" cy="51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TextBox 44"/>
          <p:cNvSpPr/>
          <p:nvPr/>
        </p:nvSpPr>
        <p:spPr>
          <a:xfrm>
            <a:off x="2578680" y="4563000"/>
            <a:ext cx="5495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Begrip 4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TextBox 45"/>
          <p:cNvSpPr/>
          <p:nvPr/>
        </p:nvSpPr>
        <p:spPr>
          <a:xfrm>
            <a:off x="2578680" y="4763880"/>
            <a:ext cx="5495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korte omschrijving of context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Rounded Rectangle 46"/>
          <p:cNvSpPr/>
          <p:nvPr/>
        </p:nvSpPr>
        <p:spPr>
          <a:xfrm>
            <a:off x="8366760" y="459936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Aangeboden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Rounded Rectangle 47"/>
          <p:cNvSpPr/>
          <p:nvPr/>
        </p:nvSpPr>
        <p:spPr>
          <a:xfrm>
            <a:off x="2468880" y="5093280"/>
            <a:ext cx="5714640" cy="51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TextBox 48"/>
          <p:cNvSpPr/>
          <p:nvPr/>
        </p:nvSpPr>
        <p:spPr>
          <a:xfrm>
            <a:off x="2578680" y="5166360"/>
            <a:ext cx="5495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Begrip 5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TextBox 49"/>
          <p:cNvSpPr/>
          <p:nvPr/>
        </p:nvSpPr>
        <p:spPr>
          <a:xfrm>
            <a:off x="2578680" y="5367600"/>
            <a:ext cx="5495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korte omschrijving of context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Rounded Rectangle 50"/>
          <p:cNvSpPr/>
          <p:nvPr/>
        </p:nvSpPr>
        <p:spPr>
          <a:xfrm>
            <a:off x="8366760" y="520308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232323"/>
                </a:solidFill>
                <a:latin typeface="Calibri"/>
              </a:rPr>
              <a:t>Aangeboden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Rounded Rectangle 51"/>
          <p:cNvSpPr/>
          <p:nvPr/>
        </p:nvSpPr>
        <p:spPr>
          <a:xfrm>
            <a:off x="2468880" y="5696640"/>
            <a:ext cx="5714640" cy="51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TextBox 52"/>
          <p:cNvSpPr/>
          <p:nvPr/>
        </p:nvSpPr>
        <p:spPr>
          <a:xfrm>
            <a:off x="2578680" y="5769720"/>
            <a:ext cx="5495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Begrip 6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TextBox 53"/>
          <p:cNvSpPr/>
          <p:nvPr/>
        </p:nvSpPr>
        <p:spPr>
          <a:xfrm>
            <a:off x="2578680" y="5970960"/>
            <a:ext cx="5495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korte omschrijving of context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Rounded Rectangle 54"/>
          <p:cNvSpPr/>
          <p:nvPr/>
        </p:nvSpPr>
        <p:spPr>
          <a:xfrm>
            <a:off x="8366760" y="580644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Aangeboden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Rounded Rectangle 55"/>
          <p:cNvSpPr/>
          <p:nvPr/>
        </p:nvSpPr>
        <p:spPr>
          <a:xfrm>
            <a:off x="9098280" y="1188720"/>
            <a:ext cx="2514240" cy="489168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TextBox 56"/>
          <p:cNvSpPr/>
          <p:nvPr/>
        </p:nvSpPr>
        <p:spPr>
          <a:xfrm>
            <a:off x="9208080" y="1261800"/>
            <a:ext cx="22946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232323"/>
                </a:solidFill>
                <a:latin typeface="Calibri"/>
              </a:rPr>
              <a:t>ANNOTATIES / BUILD NOTES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TextBox 57"/>
          <p:cNvSpPr/>
          <p:nvPr/>
        </p:nvSpPr>
        <p:spPr>
          <a:xfrm>
            <a:off x="9208080" y="147204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464646"/>
                </a:solidFill>
                <a:latin typeface="Calibri"/>
              </a:rPr>
              <a:t>Route: /vocabulary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TextBox 58"/>
          <p:cNvSpPr/>
          <p:nvPr/>
        </p:nvSpPr>
        <p:spPr>
          <a:xfrm>
            <a:off x="9208080" y="1664280"/>
            <a:ext cx="229464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Doel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Helpt leerkrachten bewaken welke begrippen al aan bod kwamen binnen klas en schooljaar.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TextBox 59"/>
          <p:cNvSpPr/>
          <p:nvPr/>
        </p:nvSpPr>
        <p:spPr>
          <a:xfrm>
            <a:off x="9208080" y="208476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Componenten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TextBox 60"/>
          <p:cNvSpPr/>
          <p:nvPr/>
        </p:nvSpPr>
        <p:spPr>
          <a:xfrm>
            <a:off x="9244440" y="224928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1. filters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TextBox 61"/>
          <p:cNvSpPr/>
          <p:nvPr/>
        </p:nvSpPr>
        <p:spPr>
          <a:xfrm>
            <a:off x="9244440" y="241416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2. progress card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TextBox 62"/>
          <p:cNvSpPr/>
          <p:nvPr/>
        </p:nvSpPr>
        <p:spPr>
          <a:xfrm>
            <a:off x="9244440" y="257868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3. vocabulary items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TextBox 63"/>
          <p:cNvSpPr/>
          <p:nvPr/>
        </p:nvSpPr>
        <p:spPr>
          <a:xfrm>
            <a:off x="9244440" y="274320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4. offered toggle/action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TextBox 64"/>
          <p:cNvSpPr/>
          <p:nvPr/>
        </p:nvSpPr>
        <p:spPr>
          <a:xfrm>
            <a:off x="9208080" y="298080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States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TextBox 65"/>
          <p:cNvSpPr/>
          <p:nvPr/>
        </p:nvSpPr>
        <p:spPr>
          <a:xfrm>
            <a:off x="9244440" y="314568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loading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TextBox 66"/>
          <p:cNvSpPr/>
          <p:nvPr/>
        </p:nvSpPr>
        <p:spPr>
          <a:xfrm>
            <a:off x="9244440" y="331020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no results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TextBox 67"/>
          <p:cNvSpPr/>
          <p:nvPr/>
        </p:nvSpPr>
        <p:spPr>
          <a:xfrm>
            <a:off x="9244440" y="347472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term marked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TextBox 68"/>
          <p:cNvSpPr/>
          <p:nvPr/>
        </p:nvSpPr>
        <p:spPr>
          <a:xfrm>
            <a:off x="9244440" y="363924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progress updated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TextBox 69"/>
          <p:cNvSpPr/>
          <p:nvPr/>
        </p:nvSpPr>
        <p:spPr>
          <a:xfrm>
            <a:off x="9208080" y="387720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Technische notities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TextBox 70"/>
          <p:cNvSpPr/>
          <p:nvPr/>
        </p:nvSpPr>
        <p:spPr>
          <a:xfrm>
            <a:off x="9244440" y="404172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snelle toggle is cruciaal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TextBox 71"/>
          <p:cNvSpPr/>
          <p:nvPr/>
        </p:nvSpPr>
        <p:spPr>
          <a:xfrm>
            <a:off x="9244440" y="4206240"/>
            <a:ext cx="22215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zoek + filters moeten compact blijven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Rounded Rectangle 72"/>
          <p:cNvSpPr/>
          <p:nvPr/>
        </p:nvSpPr>
        <p:spPr>
          <a:xfrm>
            <a:off x="2514600" y="210312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1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00" name="Connector 73"/>
          <p:cNvCxnSpPr/>
          <p:nvPr/>
        </p:nvCxnSpPr>
        <p:spPr>
          <a:xfrm flipV="1">
            <a:off x="2628720" y="2148840"/>
            <a:ext cx="6607080" cy="6876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801" name="Rounded Rectangle 74"/>
          <p:cNvSpPr/>
          <p:nvPr/>
        </p:nvSpPr>
        <p:spPr>
          <a:xfrm>
            <a:off x="7772400" y="213048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2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02" name="Connector 75"/>
          <p:cNvCxnSpPr/>
          <p:nvPr/>
        </p:nvCxnSpPr>
        <p:spPr>
          <a:xfrm>
            <a:off x="7886520" y="2244600"/>
            <a:ext cx="1349280" cy="8748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803" name="Rounded Rectangle 76"/>
          <p:cNvSpPr/>
          <p:nvPr/>
        </p:nvSpPr>
        <p:spPr>
          <a:xfrm>
            <a:off x="3383280" y="292608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3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04" name="Connector 77"/>
          <p:cNvCxnSpPr/>
          <p:nvPr/>
        </p:nvCxnSpPr>
        <p:spPr>
          <a:xfrm flipV="1">
            <a:off x="3497400" y="2514600"/>
            <a:ext cx="5738400" cy="52596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805" name="Rounded Rectangle 78"/>
          <p:cNvSpPr/>
          <p:nvPr/>
        </p:nvSpPr>
        <p:spPr>
          <a:xfrm>
            <a:off x="8522280" y="296280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4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06" name="Connector 79"/>
          <p:cNvCxnSpPr/>
          <p:nvPr/>
        </p:nvCxnSpPr>
        <p:spPr>
          <a:xfrm flipV="1">
            <a:off x="8636400" y="2697480"/>
            <a:ext cx="599400" cy="37980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Rectangle 1"/>
          <p:cNvSpPr/>
          <p:nvPr/>
        </p:nvSpPr>
        <p:spPr>
          <a:xfrm>
            <a:off x="320040" y="182880"/>
            <a:ext cx="11521080" cy="5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232323"/>
                </a:solidFill>
                <a:latin typeface="Calibri"/>
              </a:rPr>
              <a:t>9. Exportcentrum – annotated wireframe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TextBox 2"/>
          <p:cNvSpPr/>
          <p:nvPr/>
        </p:nvSpPr>
        <p:spPr>
          <a:xfrm>
            <a:off x="347400" y="694800"/>
            <a:ext cx="10972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ObsApp-jobscherm voor PDF- en ZIP-export met duidelijke queue/status feedback.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09" name="Connector 3"/>
          <p:cNvCxnSpPr/>
          <p:nvPr/>
        </p:nvCxnSpPr>
        <p:spPr>
          <a:xfrm>
            <a:off x="320040" y="932400"/>
            <a:ext cx="11521800" cy="360"/>
          </a:xfrm>
          <a:prstGeom prst="straightConnector1">
            <a:avLst/>
          </a:prstGeom>
          <a:ln w="15240">
            <a:solidFill>
              <a:srgbClr val="d5d5d5"/>
            </a:solidFill>
            <a:round/>
          </a:ln>
        </p:spPr>
      </p:cxnSp>
      <p:sp>
        <p:nvSpPr>
          <p:cNvPr id="810" name="Rectangle 4"/>
          <p:cNvSpPr/>
          <p:nvPr/>
        </p:nvSpPr>
        <p:spPr>
          <a:xfrm>
            <a:off x="502920" y="1051560"/>
            <a:ext cx="8412120" cy="548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Rectangle 5"/>
          <p:cNvSpPr/>
          <p:nvPr/>
        </p:nvSpPr>
        <p:spPr>
          <a:xfrm>
            <a:off x="502920" y="1051560"/>
            <a:ext cx="8412120" cy="32868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Rounded Rectangle 6"/>
          <p:cNvSpPr/>
          <p:nvPr/>
        </p:nvSpPr>
        <p:spPr>
          <a:xfrm>
            <a:off x="612720" y="114300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Rounded Rectangle 7"/>
          <p:cNvSpPr/>
          <p:nvPr/>
        </p:nvSpPr>
        <p:spPr>
          <a:xfrm>
            <a:off x="777240" y="114300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Rounded Rectangle 8"/>
          <p:cNvSpPr/>
          <p:nvPr/>
        </p:nvSpPr>
        <p:spPr>
          <a:xfrm>
            <a:off x="941760" y="1143000"/>
            <a:ext cx="91080" cy="9108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d5d5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1040" bIns="4104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TextBox 9"/>
          <p:cNvSpPr/>
          <p:nvPr/>
        </p:nvSpPr>
        <p:spPr>
          <a:xfrm>
            <a:off x="1188720" y="1134000"/>
            <a:ext cx="3474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87878"/>
                </a:solidFill>
                <a:latin typeface="Calibri"/>
              </a:rPr>
              <a:t>obsapp.local / app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Rectangle 10"/>
          <p:cNvSpPr/>
          <p:nvPr/>
        </p:nvSpPr>
        <p:spPr>
          <a:xfrm>
            <a:off x="640080" y="1508760"/>
            <a:ext cx="8137800" cy="38376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TextBox 11"/>
          <p:cNvSpPr/>
          <p:nvPr/>
        </p:nvSpPr>
        <p:spPr>
          <a:xfrm>
            <a:off x="777240" y="1600200"/>
            <a:ext cx="502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ObsApp   |   Exportcentrum   |   Tenant / schooljaar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Rectangle 12"/>
          <p:cNvSpPr/>
          <p:nvPr/>
        </p:nvSpPr>
        <p:spPr>
          <a:xfrm>
            <a:off x="640080" y="1965960"/>
            <a:ext cx="1691280" cy="443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Rounded Rectangle 13"/>
          <p:cNvSpPr/>
          <p:nvPr/>
        </p:nvSpPr>
        <p:spPr>
          <a:xfrm>
            <a:off x="804600" y="210312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Dashboard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Rounded Rectangle 14"/>
          <p:cNvSpPr/>
          <p:nvPr/>
        </p:nvSpPr>
        <p:spPr>
          <a:xfrm>
            <a:off x="804600" y="25056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Klas kiezen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Rounded Rectangle 15"/>
          <p:cNvSpPr/>
          <p:nvPr/>
        </p:nvSpPr>
        <p:spPr>
          <a:xfrm>
            <a:off x="804600" y="290772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Observaties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Rounded Rectangle 16"/>
          <p:cNvSpPr/>
          <p:nvPr/>
        </p:nvSpPr>
        <p:spPr>
          <a:xfrm>
            <a:off x="804600" y="33102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Matrix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Rounded Rectangle 17"/>
          <p:cNvSpPr/>
          <p:nvPr/>
        </p:nvSpPr>
        <p:spPr>
          <a:xfrm>
            <a:off x="804600" y="371232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Leerlingen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Rounded Rectangle 18"/>
          <p:cNvSpPr/>
          <p:nvPr/>
        </p:nvSpPr>
        <p:spPr>
          <a:xfrm>
            <a:off x="804600" y="41148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Flags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Rounded Rectangle 19"/>
          <p:cNvSpPr/>
          <p:nvPr/>
        </p:nvSpPr>
        <p:spPr>
          <a:xfrm>
            <a:off x="804600" y="451728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Woordenschat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Rounded Rectangle 20"/>
          <p:cNvSpPr/>
          <p:nvPr/>
        </p:nvSpPr>
        <p:spPr>
          <a:xfrm>
            <a:off x="804600" y="491940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Export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Rounded Rectangle 21"/>
          <p:cNvSpPr/>
          <p:nvPr/>
        </p:nvSpPr>
        <p:spPr>
          <a:xfrm>
            <a:off x="804600" y="5321880"/>
            <a:ext cx="13528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Instellingen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Rounded Rectangle 22"/>
          <p:cNvSpPr/>
          <p:nvPr/>
        </p:nvSpPr>
        <p:spPr>
          <a:xfrm>
            <a:off x="2468880" y="2039040"/>
            <a:ext cx="1325520" cy="3470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232323"/>
                </a:solidFill>
                <a:latin typeface="Calibri"/>
              </a:rPr>
              <a:t>Leerling PDF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Rounded Rectangle 23"/>
          <p:cNvSpPr/>
          <p:nvPr/>
        </p:nvSpPr>
        <p:spPr>
          <a:xfrm>
            <a:off x="3977640" y="2039040"/>
            <a:ext cx="1325520" cy="34704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232323"/>
                </a:solidFill>
                <a:latin typeface="Calibri"/>
              </a:rPr>
              <a:t>Batch ZIP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Rounded Rectangle 24"/>
          <p:cNvSpPr/>
          <p:nvPr/>
        </p:nvSpPr>
        <p:spPr>
          <a:xfrm>
            <a:off x="7863840" y="1984320"/>
            <a:ext cx="1737000" cy="60300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TextBox 25"/>
          <p:cNvSpPr/>
          <p:nvPr/>
        </p:nvSpPr>
        <p:spPr>
          <a:xfrm>
            <a:off x="7973640" y="2057400"/>
            <a:ext cx="1517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States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TextBox 26"/>
          <p:cNvSpPr/>
          <p:nvPr/>
        </p:nvSpPr>
        <p:spPr>
          <a:xfrm>
            <a:off x="7973640" y="2258640"/>
            <a:ext cx="151740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queued / processing / failed / ready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Rectangle 27"/>
          <p:cNvSpPr/>
          <p:nvPr/>
        </p:nvSpPr>
        <p:spPr>
          <a:xfrm>
            <a:off x="2468880" y="2715840"/>
            <a:ext cx="2514240" cy="36540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Job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Rectangle 28"/>
          <p:cNvSpPr/>
          <p:nvPr/>
        </p:nvSpPr>
        <p:spPr>
          <a:xfrm>
            <a:off x="4983480" y="2715840"/>
            <a:ext cx="914040" cy="36540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Type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Rectangle 29"/>
          <p:cNvSpPr/>
          <p:nvPr/>
        </p:nvSpPr>
        <p:spPr>
          <a:xfrm>
            <a:off x="5897880" y="2715840"/>
            <a:ext cx="1508400" cy="36540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Aanvrager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Rectangle 30"/>
          <p:cNvSpPr/>
          <p:nvPr/>
        </p:nvSpPr>
        <p:spPr>
          <a:xfrm>
            <a:off x="7406640" y="2715840"/>
            <a:ext cx="1005480" cy="36540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Status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Rectangle 31"/>
          <p:cNvSpPr/>
          <p:nvPr/>
        </p:nvSpPr>
        <p:spPr>
          <a:xfrm>
            <a:off x="8412480" y="2715840"/>
            <a:ext cx="959760" cy="36540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Actie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Rectangle 32"/>
          <p:cNvSpPr/>
          <p:nvPr/>
        </p:nvSpPr>
        <p:spPr>
          <a:xfrm>
            <a:off x="2468880" y="3081600"/>
            <a:ext cx="251424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Leerling 4 PDF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Rectangle 33"/>
          <p:cNvSpPr/>
          <p:nvPr/>
        </p:nvSpPr>
        <p:spPr>
          <a:xfrm>
            <a:off x="4983480" y="3081600"/>
            <a:ext cx="91404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PDF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Rectangle 34"/>
          <p:cNvSpPr/>
          <p:nvPr/>
        </p:nvSpPr>
        <p:spPr>
          <a:xfrm>
            <a:off x="5897880" y="3081600"/>
            <a:ext cx="150840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David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Rectangle 35"/>
          <p:cNvSpPr/>
          <p:nvPr/>
        </p:nvSpPr>
        <p:spPr>
          <a:xfrm>
            <a:off x="7406640" y="3081600"/>
            <a:ext cx="1005480" cy="402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ready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Rectangle 36"/>
          <p:cNvSpPr/>
          <p:nvPr/>
        </p:nvSpPr>
        <p:spPr>
          <a:xfrm>
            <a:off x="8412480" y="3081600"/>
            <a:ext cx="95976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download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Rectangle 37"/>
          <p:cNvSpPr/>
          <p:nvPr/>
        </p:nvSpPr>
        <p:spPr>
          <a:xfrm>
            <a:off x="2468880" y="3483720"/>
            <a:ext cx="251424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Batch klas K2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Rectangle 38"/>
          <p:cNvSpPr/>
          <p:nvPr/>
        </p:nvSpPr>
        <p:spPr>
          <a:xfrm>
            <a:off x="4983480" y="3483720"/>
            <a:ext cx="91404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ZIP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Rectangle 39"/>
          <p:cNvSpPr/>
          <p:nvPr/>
        </p:nvSpPr>
        <p:spPr>
          <a:xfrm>
            <a:off x="5897880" y="3483720"/>
            <a:ext cx="150840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David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Rectangle 40"/>
          <p:cNvSpPr/>
          <p:nvPr/>
        </p:nvSpPr>
        <p:spPr>
          <a:xfrm>
            <a:off x="7406640" y="3483720"/>
            <a:ext cx="1005480" cy="402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processing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Rectangle 41"/>
          <p:cNvSpPr/>
          <p:nvPr/>
        </p:nvSpPr>
        <p:spPr>
          <a:xfrm>
            <a:off x="8412480" y="3483720"/>
            <a:ext cx="95976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—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Rectangle 42"/>
          <p:cNvSpPr/>
          <p:nvPr/>
        </p:nvSpPr>
        <p:spPr>
          <a:xfrm>
            <a:off x="2468880" y="3886200"/>
            <a:ext cx="251424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Leerling 7 PDF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Rectangle 43"/>
          <p:cNvSpPr/>
          <p:nvPr/>
        </p:nvSpPr>
        <p:spPr>
          <a:xfrm>
            <a:off x="4983480" y="3886200"/>
            <a:ext cx="91404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PDF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Rectangle 44"/>
          <p:cNvSpPr/>
          <p:nvPr/>
        </p:nvSpPr>
        <p:spPr>
          <a:xfrm>
            <a:off x="5897880" y="3886200"/>
            <a:ext cx="150840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Timo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Rectangle 45"/>
          <p:cNvSpPr/>
          <p:nvPr/>
        </p:nvSpPr>
        <p:spPr>
          <a:xfrm>
            <a:off x="7406640" y="3886200"/>
            <a:ext cx="1005480" cy="402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queued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Rectangle 46"/>
          <p:cNvSpPr/>
          <p:nvPr/>
        </p:nvSpPr>
        <p:spPr>
          <a:xfrm>
            <a:off x="8412480" y="3886200"/>
            <a:ext cx="95976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—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Rectangle 47"/>
          <p:cNvSpPr/>
          <p:nvPr/>
        </p:nvSpPr>
        <p:spPr>
          <a:xfrm>
            <a:off x="2468880" y="4288680"/>
            <a:ext cx="251424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Batch zorgoverleg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Rectangle 48"/>
          <p:cNvSpPr/>
          <p:nvPr/>
        </p:nvSpPr>
        <p:spPr>
          <a:xfrm>
            <a:off x="4983480" y="4288680"/>
            <a:ext cx="91404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ZIP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Rectangle 49"/>
          <p:cNvSpPr/>
          <p:nvPr/>
        </p:nvSpPr>
        <p:spPr>
          <a:xfrm>
            <a:off x="5897880" y="4288680"/>
            <a:ext cx="150840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Pieter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Rectangle 50"/>
          <p:cNvSpPr/>
          <p:nvPr/>
        </p:nvSpPr>
        <p:spPr>
          <a:xfrm>
            <a:off x="7406640" y="4288680"/>
            <a:ext cx="1005480" cy="402120"/>
          </a:xfrm>
          <a:prstGeom prst="rect">
            <a:avLst/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failed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Rectangle 51"/>
          <p:cNvSpPr/>
          <p:nvPr/>
        </p:nvSpPr>
        <p:spPr>
          <a:xfrm>
            <a:off x="8412480" y="4288680"/>
            <a:ext cx="95976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retry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Rounded Rectangle 52"/>
          <p:cNvSpPr/>
          <p:nvPr/>
        </p:nvSpPr>
        <p:spPr>
          <a:xfrm>
            <a:off x="9098280" y="1188720"/>
            <a:ext cx="2514240" cy="489168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TextBox 53"/>
          <p:cNvSpPr/>
          <p:nvPr/>
        </p:nvSpPr>
        <p:spPr>
          <a:xfrm>
            <a:off x="9208080" y="1261800"/>
            <a:ext cx="22946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232323"/>
                </a:solidFill>
                <a:latin typeface="Calibri"/>
              </a:rPr>
              <a:t>ANNOTATIES / BUILD NOTES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TextBox 54"/>
          <p:cNvSpPr/>
          <p:nvPr/>
        </p:nvSpPr>
        <p:spPr>
          <a:xfrm>
            <a:off x="9208080" y="147204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464646"/>
                </a:solidFill>
                <a:latin typeface="Calibri"/>
              </a:rPr>
              <a:t>Route: /exports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TextBox 55"/>
          <p:cNvSpPr/>
          <p:nvPr/>
        </p:nvSpPr>
        <p:spPr>
          <a:xfrm>
            <a:off x="9208080" y="1664280"/>
            <a:ext cx="229464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Doel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Maakt achtergrondtaken zichtbaar en vermijdt dat gebruikers zich afvragen of export werkte.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TextBox 56"/>
          <p:cNvSpPr/>
          <p:nvPr/>
        </p:nvSpPr>
        <p:spPr>
          <a:xfrm>
            <a:off x="9208080" y="208476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Componenten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TextBox 57"/>
          <p:cNvSpPr/>
          <p:nvPr/>
        </p:nvSpPr>
        <p:spPr>
          <a:xfrm>
            <a:off x="9244440" y="224928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1. new export CTA’s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TextBox 58"/>
          <p:cNvSpPr/>
          <p:nvPr/>
        </p:nvSpPr>
        <p:spPr>
          <a:xfrm>
            <a:off x="9244440" y="241416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2. job states card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TextBox 59"/>
          <p:cNvSpPr/>
          <p:nvPr/>
        </p:nvSpPr>
        <p:spPr>
          <a:xfrm>
            <a:off x="9244440" y="257868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3. jobs table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TextBox 60"/>
          <p:cNvSpPr/>
          <p:nvPr/>
        </p:nvSpPr>
        <p:spPr>
          <a:xfrm>
            <a:off x="9244440" y="274320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4. action column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TextBox 61"/>
          <p:cNvSpPr/>
          <p:nvPr/>
        </p:nvSpPr>
        <p:spPr>
          <a:xfrm>
            <a:off x="9208080" y="298080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States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TextBox 62"/>
          <p:cNvSpPr/>
          <p:nvPr/>
        </p:nvSpPr>
        <p:spPr>
          <a:xfrm>
            <a:off x="9244440" y="314568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queued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TextBox 63"/>
          <p:cNvSpPr/>
          <p:nvPr/>
        </p:nvSpPr>
        <p:spPr>
          <a:xfrm>
            <a:off x="9244440" y="331020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processing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TextBox 64"/>
          <p:cNvSpPr/>
          <p:nvPr/>
        </p:nvSpPr>
        <p:spPr>
          <a:xfrm>
            <a:off x="9244440" y="347472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failed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TextBox 65"/>
          <p:cNvSpPr/>
          <p:nvPr/>
        </p:nvSpPr>
        <p:spPr>
          <a:xfrm>
            <a:off x="9244440" y="3639240"/>
            <a:ext cx="22215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ready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TextBox 66"/>
          <p:cNvSpPr/>
          <p:nvPr/>
        </p:nvSpPr>
        <p:spPr>
          <a:xfrm>
            <a:off x="9208080" y="3877200"/>
            <a:ext cx="2294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32323"/>
                </a:solidFill>
                <a:latin typeface="Calibri"/>
              </a:rPr>
              <a:t>Technische notities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TextBox 67"/>
          <p:cNvSpPr/>
          <p:nvPr/>
        </p:nvSpPr>
        <p:spPr>
          <a:xfrm>
            <a:off x="9244440" y="4041720"/>
            <a:ext cx="22215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async jobs zijn hier eerste klas burger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TextBox 68"/>
          <p:cNvSpPr/>
          <p:nvPr/>
        </p:nvSpPr>
        <p:spPr>
          <a:xfrm>
            <a:off x="9244440" y="4206240"/>
            <a:ext cx="22215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464646"/>
                </a:solidFill>
                <a:latin typeface="Calibri"/>
              </a:rPr>
              <a:t>best retry support + downloadhistoriek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Rounded Rectangle 69"/>
          <p:cNvSpPr/>
          <p:nvPr/>
        </p:nvSpPr>
        <p:spPr>
          <a:xfrm>
            <a:off x="2514600" y="210312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1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76" name="Connector 70"/>
          <p:cNvCxnSpPr/>
          <p:nvPr/>
        </p:nvCxnSpPr>
        <p:spPr>
          <a:xfrm flipV="1">
            <a:off x="2628720" y="2148840"/>
            <a:ext cx="6607080" cy="6876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877" name="Rounded Rectangle 71"/>
          <p:cNvSpPr/>
          <p:nvPr/>
        </p:nvSpPr>
        <p:spPr>
          <a:xfrm>
            <a:off x="7909560" y="213048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2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78" name="Connector 72"/>
          <p:cNvCxnSpPr/>
          <p:nvPr/>
        </p:nvCxnSpPr>
        <p:spPr>
          <a:xfrm>
            <a:off x="8023680" y="2244600"/>
            <a:ext cx="1212120" cy="8748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879" name="Rounded Rectangle 73"/>
          <p:cNvSpPr/>
          <p:nvPr/>
        </p:nvSpPr>
        <p:spPr>
          <a:xfrm>
            <a:off x="4754880" y="338328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3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80" name="Connector 74"/>
          <p:cNvCxnSpPr/>
          <p:nvPr/>
        </p:nvCxnSpPr>
        <p:spPr>
          <a:xfrm flipV="1">
            <a:off x="4869000" y="2514600"/>
            <a:ext cx="4366800" cy="98316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  <p:sp>
        <p:nvSpPr>
          <p:cNvPr id="881" name="Rounded Rectangle 75"/>
          <p:cNvSpPr/>
          <p:nvPr/>
        </p:nvSpPr>
        <p:spPr>
          <a:xfrm>
            <a:off x="8823960" y="338328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d5d5d5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232323"/>
                </a:solidFill>
                <a:latin typeface="Calibri"/>
              </a:rPr>
              <a:t>4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82" name="Connector 76"/>
          <p:cNvCxnSpPr/>
          <p:nvPr/>
        </p:nvCxnSpPr>
        <p:spPr>
          <a:xfrm flipV="1">
            <a:off x="8938080" y="2697480"/>
            <a:ext cx="297720" cy="800280"/>
          </a:xfrm>
          <a:prstGeom prst="straightConnector1">
            <a:avLst/>
          </a:prstGeom>
          <a:ln w="12700">
            <a:solidFill>
              <a:srgbClr val="232323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Rectangle 1"/>
          <p:cNvSpPr/>
          <p:nvPr/>
        </p:nvSpPr>
        <p:spPr>
          <a:xfrm>
            <a:off x="320040" y="182880"/>
            <a:ext cx="11521080" cy="5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232323"/>
                </a:solidFill>
                <a:latin typeface="Calibri"/>
              </a:rPr>
              <a:t>10. Component inventory + route map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TextBox 2"/>
          <p:cNvSpPr/>
          <p:nvPr/>
        </p:nvSpPr>
        <p:spPr>
          <a:xfrm>
            <a:off x="347400" y="694800"/>
            <a:ext cx="10972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ObsApp-bouwspec-light: welke componenten wil je één keer goed bouwen en daarna hergebruiken?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85" name="Connector 3"/>
          <p:cNvCxnSpPr/>
          <p:nvPr/>
        </p:nvCxnSpPr>
        <p:spPr>
          <a:xfrm>
            <a:off x="320040" y="932400"/>
            <a:ext cx="11521800" cy="360"/>
          </a:xfrm>
          <a:prstGeom prst="straightConnector1">
            <a:avLst/>
          </a:prstGeom>
          <a:ln w="15240">
            <a:solidFill>
              <a:srgbClr val="d5d5d5"/>
            </a:solidFill>
            <a:round/>
          </a:ln>
        </p:spPr>
      </p:cxnSp>
      <p:sp>
        <p:nvSpPr>
          <p:cNvPr id="886" name="Rounded Rectangle 4"/>
          <p:cNvSpPr/>
          <p:nvPr/>
        </p:nvSpPr>
        <p:spPr>
          <a:xfrm>
            <a:off x="502920" y="1143000"/>
            <a:ext cx="11109600" cy="5440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Rounded Rectangle 5"/>
          <p:cNvSpPr/>
          <p:nvPr/>
        </p:nvSpPr>
        <p:spPr>
          <a:xfrm>
            <a:off x="777240" y="1508760"/>
            <a:ext cx="173700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TextBox 6"/>
          <p:cNvSpPr/>
          <p:nvPr/>
        </p:nvSpPr>
        <p:spPr>
          <a:xfrm>
            <a:off x="887040" y="1581840"/>
            <a:ext cx="1517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Inputs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TextBox 7"/>
          <p:cNvSpPr/>
          <p:nvPr/>
        </p:nvSpPr>
        <p:spPr>
          <a:xfrm>
            <a:off x="887040" y="1783080"/>
            <a:ext cx="151740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text input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dropdown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search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filters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Rounded Rectangle 8"/>
          <p:cNvSpPr/>
          <p:nvPr/>
        </p:nvSpPr>
        <p:spPr>
          <a:xfrm>
            <a:off x="2788920" y="1508760"/>
            <a:ext cx="1737000" cy="159984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TextBox 9"/>
          <p:cNvSpPr/>
          <p:nvPr/>
        </p:nvSpPr>
        <p:spPr>
          <a:xfrm>
            <a:off x="2898720" y="1581840"/>
            <a:ext cx="1517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Buttons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TextBox 10"/>
          <p:cNvSpPr/>
          <p:nvPr/>
        </p:nvSpPr>
        <p:spPr>
          <a:xfrm>
            <a:off x="2898720" y="1783080"/>
            <a:ext cx="151740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primary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secondary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inline action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retry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Rounded Rectangle 11"/>
          <p:cNvSpPr/>
          <p:nvPr/>
        </p:nvSpPr>
        <p:spPr>
          <a:xfrm>
            <a:off x="4800600" y="1508760"/>
            <a:ext cx="173700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TextBox 12"/>
          <p:cNvSpPr/>
          <p:nvPr/>
        </p:nvSpPr>
        <p:spPr>
          <a:xfrm>
            <a:off x="4910400" y="1581840"/>
            <a:ext cx="1517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Cards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TextBox 13"/>
          <p:cNvSpPr/>
          <p:nvPr/>
        </p:nvSpPr>
        <p:spPr>
          <a:xfrm>
            <a:off x="4910400" y="1783080"/>
            <a:ext cx="15174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dashboard cards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summary blocks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list items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Rounded Rectangle 14"/>
          <p:cNvSpPr/>
          <p:nvPr/>
        </p:nvSpPr>
        <p:spPr>
          <a:xfrm>
            <a:off x="6812280" y="1508760"/>
            <a:ext cx="1737000" cy="159984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TextBox 15"/>
          <p:cNvSpPr/>
          <p:nvPr/>
        </p:nvSpPr>
        <p:spPr>
          <a:xfrm>
            <a:off x="6922080" y="1581840"/>
            <a:ext cx="1517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Data views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TextBox 16"/>
          <p:cNvSpPr/>
          <p:nvPr/>
        </p:nvSpPr>
        <p:spPr>
          <a:xfrm>
            <a:off x="6922080" y="1783080"/>
            <a:ext cx="151740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observation grid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matrix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job table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lists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Rounded Rectangle 17"/>
          <p:cNvSpPr/>
          <p:nvPr/>
        </p:nvSpPr>
        <p:spPr>
          <a:xfrm>
            <a:off x="8823960" y="1508760"/>
            <a:ext cx="1737000" cy="159984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TextBox 18"/>
          <p:cNvSpPr/>
          <p:nvPr/>
        </p:nvSpPr>
        <p:spPr>
          <a:xfrm>
            <a:off x="8933760" y="1581840"/>
            <a:ext cx="1517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Overlays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TextBox 19"/>
          <p:cNvSpPr/>
          <p:nvPr/>
        </p:nvSpPr>
        <p:spPr>
          <a:xfrm>
            <a:off x="8933760" y="1783080"/>
            <a:ext cx="151740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side panel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popover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validation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toast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Rounded Rectangle 20"/>
          <p:cNvSpPr/>
          <p:nvPr/>
        </p:nvSpPr>
        <p:spPr>
          <a:xfrm>
            <a:off x="777240" y="3794760"/>
            <a:ext cx="173700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TextBox 21"/>
          <p:cNvSpPr/>
          <p:nvPr/>
        </p:nvSpPr>
        <p:spPr>
          <a:xfrm>
            <a:off x="887040" y="3867840"/>
            <a:ext cx="1517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Shared states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TextBox 22"/>
          <p:cNvSpPr/>
          <p:nvPr/>
        </p:nvSpPr>
        <p:spPr>
          <a:xfrm>
            <a:off x="887040" y="4069080"/>
            <a:ext cx="151740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loading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empty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error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success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readonly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Rounded Rectangle 23"/>
          <p:cNvSpPr/>
          <p:nvPr/>
        </p:nvSpPr>
        <p:spPr>
          <a:xfrm>
            <a:off x="2788920" y="3794760"/>
            <a:ext cx="1737000" cy="159984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TextBox 24"/>
          <p:cNvSpPr/>
          <p:nvPr/>
        </p:nvSpPr>
        <p:spPr>
          <a:xfrm>
            <a:off x="2898720" y="3867840"/>
            <a:ext cx="1517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Context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TextBox 25"/>
          <p:cNvSpPr/>
          <p:nvPr/>
        </p:nvSpPr>
        <p:spPr>
          <a:xfrm>
            <a:off x="2898720" y="4069080"/>
            <a:ext cx="151740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tenant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klas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schooljaar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mode vak/thema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Rounded Rectangle 26"/>
          <p:cNvSpPr/>
          <p:nvPr/>
        </p:nvSpPr>
        <p:spPr>
          <a:xfrm>
            <a:off x="4800600" y="3794760"/>
            <a:ext cx="173700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TextBox 27"/>
          <p:cNvSpPr/>
          <p:nvPr/>
        </p:nvSpPr>
        <p:spPr>
          <a:xfrm>
            <a:off x="4910400" y="3867840"/>
            <a:ext cx="1517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Actions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TextBox 28"/>
          <p:cNvSpPr/>
          <p:nvPr/>
        </p:nvSpPr>
        <p:spPr>
          <a:xfrm>
            <a:off x="4910400" y="4069080"/>
            <a:ext cx="151740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save observation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flag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export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open dossier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Rounded Rectangle 29"/>
          <p:cNvSpPr/>
          <p:nvPr/>
        </p:nvSpPr>
        <p:spPr>
          <a:xfrm>
            <a:off x="6812280" y="3794760"/>
            <a:ext cx="1737000" cy="159984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TextBox 30"/>
          <p:cNvSpPr/>
          <p:nvPr/>
        </p:nvSpPr>
        <p:spPr>
          <a:xfrm>
            <a:off x="6922080" y="3867840"/>
            <a:ext cx="1517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Navigation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TextBox 31"/>
          <p:cNvSpPr/>
          <p:nvPr/>
        </p:nvSpPr>
        <p:spPr>
          <a:xfrm>
            <a:off x="6922080" y="4069080"/>
            <a:ext cx="15174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app shell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left nav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detail drill-down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Rounded Rectangle 32"/>
          <p:cNvSpPr/>
          <p:nvPr/>
        </p:nvSpPr>
        <p:spPr>
          <a:xfrm>
            <a:off x="8823960" y="3794760"/>
            <a:ext cx="1737000" cy="159984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TextBox 33"/>
          <p:cNvSpPr/>
          <p:nvPr/>
        </p:nvSpPr>
        <p:spPr>
          <a:xfrm>
            <a:off x="8933760" y="3867840"/>
            <a:ext cx="1517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32323"/>
                </a:solidFill>
                <a:latin typeface="Calibri"/>
              </a:rPr>
              <a:t>Core rule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TextBox 34"/>
          <p:cNvSpPr/>
          <p:nvPr/>
        </p:nvSpPr>
        <p:spPr>
          <a:xfrm>
            <a:off x="8933760" y="4069080"/>
            <a:ext cx="15174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één grid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één detailpanel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4646"/>
                </a:solidFill>
                <a:latin typeface="Calibri"/>
              </a:rPr>
              <a:t>één saveflow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Rounded Rectangle 35"/>
          <p:cNvSpPr/>
          <p:nvPr/>
        </p:nvSpPr>
        <p:spPr>
          <a:xfrm>
            <a:off x="777240" y="1115640"/>
            <a:ext cx="10058040" cy="292320"/>
          </a:xfrm>
          <a:prstGeom prst="roundRect">
            <a:avLst>
              <a:gd name="adj" fmla="val 16667"/>
            </a:avLst>
          </a:prstGeom>
          <a:solidFill>
            <a:srgbClr val="f1f1f1"/>
          </a:solidFill>
          <a:ln w="12700">
            <a:solidFill>
              <a:srgbClr val="2323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232323"/>
                </a:solidFill>
                <a:latin typeface="Calibri"/>
              </a:rPr>
              <a:t>Belangrijkste routes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• </a:t>
            </a:r>
            <a:r>
              <a:rPr b="0" lang="en-US" sz="950" spc="-1" strike="noStrike">
                <a:solidFill>
                  <a:srgbClr val="232323"/>
                </a:solidFill>
                <a:latin typeface="Calibri"/>
              </a:rPr>
              <a:t>/auth/sign-in  |  /dashboard  |  /classes/:classId/observe  |  /students/:studentId  |  /classes/:classId/matrix  |  /flags  |  /vocabulary  |  /exports</a:t>
            </a:r>
            <a:endParaRPr b="0" lang="en-GB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2026-06-10T23:37:46Z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